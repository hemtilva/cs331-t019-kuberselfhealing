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Our project focuses on making Kubernetes networks more resilient. In modern microservices, network issues like accidental policy blocks or DNS failures cause silent outages. Usually, an alert wakes up an engineer who manually fixes it, taking precious time. Our objective was to build an intelligent, automated closed-loop system that not only detects these failures in real-time but uses a custom Operator to automatically fix them, reducing downtime from minutes or hours to just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is divided into four stages: Workloads, Detection, Decision, and Remediation. We built custom Python probes that constantly test DNS and HTTP connectivity across namespaces. When a failure occurs, Prometheus detects the metric drop and Alertmanager fires a webhook. The brain of our project is a custom Operator written in Go. It catches this webhook, identifies the exact nature of the fault, and uses K8s API calls to immediately correct the infrastructure—for example, wiping out a bad network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top of standard Kubernetes, we built several critical extensions. We wrote a custom Go Operator to act as the brain, Python probes for active monitoring, and a chaos engineering framework to test the system with real faults. During development, we fixed complex bugs like Kubernetes Network Policies stacking unexpectedly, and adjusted our fault simulation to use container kills so metrics were tracked accurately. Ultimately, evaluating the system showed complete closed-loop success—if we inject a fault, Grafana turns red, the operator automatically heals the infrastructure, and the dashboard recovers to green within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non-functional testing, our primary metric is the Service Level Agreement (SLA) for automated recovery. Our system completes the entire loop—from the moment a fault happens to the K8s cluster returning to a healthy state—in about 60 seconds. We tuned Prometheus and Alertmanager intervals specifically for this aggressive SLA. Furthermore, we designed the Go Operator to be stateless and idempotent, meaning it won't crash or corrupt the K8s database even if multiple alerts fire simultaneously. It is also strictly secured using K8s Role-Based Access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challenge we faced was the 'Chicken-or-Egg' monitoring problem. We designed a fault that takes down the cluster's DNS. However, when we did this, Grafana completely broke because it used that exact same K8s DNS to find Prometheus! It taught us a vital lesson about decoupling monitoring infrastructure from the application infrastructure. We also faced challenges with event concurrency—Alertmanager firing multiple alerts while the fix was already in progress—which forced us to make our Go operator much smarter and state-aware. Overall, these challenges provided deep insights into Kubernetes internals.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85750" y="285750"/>
            <a:ext cx="8572500" cy="642938"/>
          </a:xfrm>
          <a:prstGeom prst="rect">
            <a:avLst/>
          </a:prstGeom>
          <a:solidFill>
            <a:srgbClr val="000000">
              <a:alpha val="0"/>
            </a:srgbClr>
          </a:solidFill>
          <a:ln/>
        </p:spPr>
      </p:sp>
      <p:sp>
        <p:nvSpPr>
          <p:cNvPr id="5" name="Shape 1"/>
          <p:cNvSpPr/>
          <p:nvPr/>
        </p:nvSpPr>
        <p:spPr>
          <a:xfrm>
            <a:off x="285750" y="285750"/>
            <a:ext cx="28575" cy="642938"/>
          </a:xfrm>
          <a:prstGeom prst="rect">
            <a:avLst/>
          </a:prstGeom>
          <a:solidFill>
            <a:srgbClr val="06B6D4"/>
          </a:solidFill>
          <a:ln/>
        </p:spPr>
      </p:sp>
      <p:sp>
        <p:nvSpPr>
          <p:cNvPr id="6" name="Text 2"/>
          <p:cNvSpPr/>
          <p:nvPr/>
        </p:nvSpPr>
        <p:spPr>
          <a:xfrm>
            <a:off x="428625" y="285750"/>
            <a:ext cx="8429625" cy="414338"/>
          </a:xfrm>
          <a:prstGeom prst="rect">
            <a:avLst/>
          </a:prstGeom>
          <a:noFill/>
          <a:ln/>
        </p:spPr>
        <p:txBody>
          <a:bodyPr wrap="square" lIns="0" tIns="0" rIns="0" bIns="0" rtlCol="0" anchor="t">
            <a:spAutoFit/>
          </a:bodyPr>
          <a:lstStyle/>
          <a:p>
            <a:pPr algn="l" indent="0" marL="0">
              <a:buNone/>
            </a:pPr>
            <a:r>
              <a:rPr lang="en-US" sz="2450" b="1" spc="-1" kern="0" dirty="0">
                <a:solidFill>
                  <a:srgbClr val="F8FAFC"/>
                </a:solidFill>
                <a:latin typeface="Inter Bold" pitchFamily="34" charset="0"/>
                <a:ea typeface="Inter Bold" pitchFamily="34" charset="-122"/>
                <a:cs typeface="Inter Bold" pitchFamily="34" charset="-120"/>
              </a:rPr>
              <a:t>Problem Statement &amp; Objectives</a:t>
            </a:r>
            <a:endParaRPr lang="en-US" sz="2450" dirty="0"/>
          </a:p>
        </p:txBody>
      </p:sp>
      <p:sp>
        <p:nvSpPr>
          <p:cNvPr id="7" name="Text 3"/>
          <p:cNvSpPr/>
          <p:nvPr/>
        </p:nvSpPr>
        <p:spPr>
          <a:xfrm>
            <a:off x="428625" y="757238"/>
            <a:ext cx="8429625" cy="171450"/>
          </a:xfrm>
          <a:prstGeom prst="rect">
            <a:avLst/>
          </a:prstGeom>
          <a:noFill/>
          <a:ln/>
        </p:spPr>
        <p:txBody>
          <a:bodyPr wrap="square" lIns="0" tIns="0" rIns="0" bIns="0" rtlCol="0" anchor="t">
            <a:spAutoFit/>
          </a:bodyPr>
          <a:lstStyle/>
          <a:p>
            <a:pPr algn="l" indent="0" marL="0">
              <a:buNone/>
            </a:pPr>
            <a:r>
              <a:rPr lang="en-US" sz="950" dirty="0">
                <a:solidFill>
                  <a:srgbClr val="06B6D4"/>
                </a:solidFill>
                <a:latin typeface="JetBrains Mono" pitchFamily="34" charset="0"/>
                <a:ea typeface="JetBrains Mono" pitchFamily="34" charset="-122"/>
                <a:cs typeface="JetBrains Mono" pitchFamily="34" charset="-120"/>
              </a:rPr>
              <a:t>AUTOMATED KUBERNETES NETWORK SELF-HEALING</a:t>
            </a:r>
            <a:endParaRPr lang="en-US" sz="950" dirty="0"/>
          </a:p>
        </p:txBody>
      </p:sp>
      <p:sp>
        <p:nvSpPr>
          <p:cNvPr id="8" name="Text 4"/>
          <p:cNvSpPr/>
          <p:nvPr/>
        </p:nvSpPr>
        <p:spPr>
          <a:xfrm>
            <a:off x="285750" y="1214438"/>
            <a:ext cx="4071938" cy="132159"/>
          </a:xfrm>
          <a:prstGeom prst="rect">
            <a:avLst/>
          </a:prstGeom>
          <a:noFill/>
          <a:ln/>
        </p:spPr>
        <p:txBody>
          <a:bodyPr wrap="square" lIns="0" tIns="0" rIns="0" bIns="0" rtlCol="0" anchor="t">
            <a:spAutoFit/>
          </a:bodyPr>
          <a:lstStyle/>
          <a:p>
            <a:pPr algn="l" indent="0" marL="0">
              <a:buNone/>
            </a:pPr>
            <a:r>
              <a:rPr lang="en-US" sz="750" spc="1" kern="0" dirty="0">
                <a:solidFill>
                  <a:srgbClr val="94A3B8"/>
                </a:solidFill>
                <a:latin typeface="JetBrains Mono" pitchFamily="34" charset="0"/>
                <a:ea typeface="JetBrains Mono" pitchFamily="34" charset="-122"/>
                <a:cs typeface="JetBrains Mono" pitchFamily="34" charset="-120"/>
              </a:rPr>
              <a:t>THE PROBLEM</a:t>
            </a:r>
            <a:endParaRPr lang="en-US" sz="750" dirty="0"/>
          </a:p>
        </p:txBody>
      </p:sp>
      <p:sp>
        <p:nvSpPr>
          <p:cNvPr id="9" name="Shape 5"/>
          <p:cNvSpPr/>
          <p:nvPr/>
        </p:nvSpPr>
        <p:spPr>
          <a:xfrm>
            <a:off x="285750" y="1460897"/>
            <a:ext cx="4071938" cy="2314463"/>
          </a:xfrm>
          <a:prstGeom prst="rect">
            <a:avLst/>
          </a:prstGeom>
          <a:solidFill>
            <a:srgbClr val="1E293B"/>
          </a:solidFill>
          <a:ln w="9144">
            <a:solidFill>
              <a:srgbClr val="334155"/>
            </a:solidFill>
            <a:prstDash val="solid"/>
          </a:ln>
        </p:spPr>
      </p:sp>
      <p:sp>
        <p:nvSpPr>
          <p:cNvPr id="10" name="Text 6"/>
          <p:cNvSpPr/>
          <p:nvPr/>
        </p:nvSpPr>
        <p:spPr>
          <a:xfrm>
            <a:off x="500063" y="1675209"/>
            <a:ext cx="3643313" cy="192881"/>
          </a:xfrm>
          <a:prstGeom prst="rect">
            <a:avLst/>
          </a:prstGeom>
          <a:noFill/>
          <a:ln/>
        </p:spPr>
        <p:txBody>
          <a:bodyPr wrap="square" lIns="0" tIns="0" rIns="0" bIns="0" rtlCol="0" anchor="t">
            <a:spAutoFit/>
          </a:bodyPr>
          <a:lstStyle/>
          <a:p>
            <a:pPr algn="l" indent="0" marL="0">
              <a:buNone/>
            </a:pPr>
            <a:r>
              <a:rPr lang="en-US" sz="1100" b="1" dirty="0">
                <a:solidFill>
                  <a:srgbClr val="EF4444"/>
                </a:solidFill>
                <a:latin typeface="Inter Bold" pitchFamily="34" charset="0"/>
                <a:ea typeface="Inter Bold" pitchFamily="34" charset="-122"/>
                <a:cs typeface="Inter Bold" pitchFamily="34" charset="-120"/>
              </a:rPr>
              <a:t>Silent Failures</a:t>
            </a:r>
            <a:endParaRPr lang="en-US" sz="1100" dirty="0"/>
          </a:p>
        </p:txBody>
      </p:sp>
      <p:sp>
        <p:nvSpPr>
          <p:cNvPr id="11" name="Text 7"/>
          <p:cNvSpPr/>
          <p:nvPr/>
        </p:nvSpPr>
        <p:spPr>
          <a:xfrm>
            <a:off x="500063" y="1925241"/>
            <a:ext cx="3643313"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F8FAFC"/>
                </a:solidFill>
                <a:latin typeface="Inter" pitchFamily="34" charset="0"/>
                <a:ea typeface="Inter" pitchFamily="34" charset="-122"/>
                <a:cs typeface="Inter" pitchFamily="34" charset="-120"/>
              </a:rPr>
              <a:t>DNS outages, misconfigured policies, or CNI crashes occur without pod termination, bypassing standard K8s health checks.</a:t>
            </a:r>
            <a:endParaRPr lang="en-US" sz="950" dirty="0"/>
          </a:p>
        </p:txBody>
      </p:sp>
      <p:sp>
        <p:nvSpPr>
          <p:cNvPr id="12" name="Text 8"/>
          <p:cNvSpPr/>
          <p:nvPr/>
        </p:nvSpPr>
        <p:spPr>
          <a:xfrm>
            <a:off x="500063" y="2713844"/>
            <a:ext cx="3643313" cy="192881"/>
          </a:xfrm>
          <a:prstGeom prst="rect">
            <a:avLst/>
          </a:prstGeom>
          <a:noFill/>
          <a:ln/>
        </p:spPr>
        <p:txBody>
          <a:bodyPr wrap="square" lIns="0" tIns="0" rIns="0" bIns="0" rtlCol="0" anchor="t">
            <a:spAutoFit/>
          </a:bodyPr>
          <a:lstStyle/>
          <a:p>
            <a:pPr algn="l" indent="0" marL="0">
              <a:buNone/>
            </a:pPr>
            <a:r>
              <a:rPr lang="en-US" sz="1100" b="1" dirty="0">
                <a:solidFill>
                  <a:srgbClr val="EF4444"/>
                </a:solidFill>
                <a:latin typeface="Inter Bold" pitchFamily="34" charset="0"/>
                <a:ea typeface="Inter Bold" pitchFamily="34" charset="-122"/>
                <a:cs typeface="Inter Bold" pitchFamily="34" charset="-120"/>
              </a:rPr>
              <a:t>Manual Bottleneck</a:t>
            </a:r>
            <a:endParaRPr lang="en-US" sz="1100" dirty="0"/>
          </a:p>
        </p:txBody>
      </p:sp>
      <p:sp>
        <p:nvSpPr>
          <p:cNvPr id="13" name="Text 9"/>
          <p:cNvSpPr/>
          <p:nvPr/>
        </p:nvSpPr>
        <p:spPr>
          <a:xfrm>
            <a:off x="500063" y="2963875"/>
            <a:ext cx="3643313"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F8FAFC"/>
                </a:solidFill>
                <a:latin typeface="Inter" pitchFamily="34" charset="0"/>
                <a:ea typeface="Inter" pitchFamily="34" charset="-122"/>
                <a:cs typeface="Inter" pitchFamily="34" charset="-120"/>
              </a:rPr>
              <a:t>Traditional monitoring relies on human operators, leading to high MTTR and prolonged service downtime.</a:t>
            </a:r>
            <a:endParaRPr lang="en-US" sz="950" dirty="0"/>
          </a:p>
        </p:txBody>
      </p:sp>
      <p:sp>
        <p:nvSpPr>
          <p:cNvPr id="14" name="Text 10"/>
          <p:cNvSpPr/>
          <p:nvPr/>
        </p:nvSpPr>
        <p:spPr>
          <a:xfrm>
            <a:off x="4786313" y="1214438"/>
            <a:ext cx="4071938" cy="132159"/>
          </a:xfrm>
          <a:prstGeom prst="rect">
            <a:avLst/>
          </a:prstGeom>
          <a:noFill/>
          <a:ln/>
        </p:spPr>
        <p:txBody>
          <a:bodyPr wrap="square" lIns="0" tIns="0" rIns="0" bIns="0" rtlCol="0" anchor="t">
            <a:spAutoFit/>
          </a:bodyPr>
          <a:lstStyle/>
          <a:p>
            <a:pPr algn="l" indent="0" marL="0">
              <a:buNone/>
            </a:pPr>
            <a:r>
              <a:rPr lang="en-US" sz="750" spc="1" kern="0" dirty="0">
                <a:solidFill>
                  <a:srgbClr val="94A3B8"/>
                </a:solidFill>
                <a:latin typeface="JetBrains Mono" pitchFamily="34" charset="0"/>
                <a:ea typeface="JetBrains Mono" pitchFamily="34" charset="-122"/>
                <a:cs typeface="JetBrains Mono" pitchFamily="34" charset="-120"/>
              </a:rPr>
              <a:t>THE OBJECTIVE</a:t>
            </a:r>
            <a:endParaRPr lang="en-US" sz="750" dirty="0"/>
          </a:p>
        </p:txBody>
      </p:sp>
      <p:sp>
        <p:nvSpPr>
          <p:cNvPr id="15" name="Text 11"/>
          <p:cNvSpPr/>
          <p:nvPr/>
        </p:nvSpPr>
        <p:spPr>
          <a:xfrm>
            <a:off x="4786313" y="1532334"/>
            <a:ext cx="4071938" cy="780064"/>
          </a:xfrm>
          <a:prstGeom prst="rect">
            <a:avLst/>
          </a:prstGeom>
          <a:noFill/>
          <a:ln/>
        </p:spPr>
        <p:txBody>
          <a:bodyPr wrap="square" lIns="0" tIns="0" rIns="0" bIns="0" rtlCol="0" anchor="t">
            <a:spAutoFit/>
          </a:bodyPr>
          <a:lstStyle/>
          <a:p>
            <a:pPr algn="l" indent="0" marL="0">
              <a:lnSpc>
                <a:spcPct val="104000"/>
              </a:lnSpc>
              <a:buNone/>
            </a:pPr>
            <a:r>
              <a:rPr lang="en-US" sz="1400" b="1" dirty="0">
                <a:solidFill>
                  <a:srgbClr val="F8FAFC"/>
                </a:solidFill>
                <a:latin typeface="Inter Bold" pitchFamily="34" charset="0"/>
                <a:ea typeface="Inter Bold" pitchFamily="34" charset="-122"/>
                <a:cs typeface="Inter Bold" pitchFamily="34" charset="-120"/>
              </a:rPr>
              <a:t>Design and implement a closed-loop, zero-touch self-healing system for Kubernetes network infrastructure.</a:t>
            </a:r>
            <a:endParaRPr lang="en-US" sz="1400" dirty="0"/>
          </a:p>
        </p:txBody>
      </p:sp>
      <p:sp>
        <p:nvSpPr>
          <p:cNvPr id="16" name="Text 12"/>
          <p:cNvSpPr/>
          <p:nvPr/>
        </p:nvSpPr>
        <p:spPr>
          <a:xfrm>
            <a:off x="4786313" y="2598148"/>
            <a:ext cx="4071938" cy="132159"/>
          </a:xfrm>
          <a:prstGeom prst="rect">
            <a:avLst/>
          </a:prstGeom>
          <a:noFill/>
          <a:ln/>
        </p:spPr>
        <p:txBody>
          <a:bodyPr wrap="square" lIns="0" tIns="0" rIns="0" bIns="0" rtlCol="0" anchor="t">
            <a:spAutoFit/>
          </a:bodyPr>
          <a:lstStyle/>
          <a:p>
            <a:pPr algn="l" indent="0" marL="0">
              <a:buNone/>
            </a:pPr>
            <a:r>
              <a:rPr lang="en-US" sz="750" spc="1" kern="0" dirty="0">
                <a:solidFill>
                  <a:srgbClr val="94A3B8"/>
                </a:solidFill>
                <a:latin typeface="JetBrains Mono" pitchFamily="34" charset="0"/>
                <a:ea typeface="JetBrains Mono" pitchFamily="34" charset="-122"/>
                <a:cs typeface="JetBrains Mono" pitchFamily="34" charset="-120"/>
              </a:rPr>
              <a:t>KEY GOALS</a:t>
            </a:r>
            <a:endParaRPr lang="en-US" sz="750" dirty="0"/>
          </a:p>
        </p:txBody>
      </p:sp>
      <p:sp>
        <p:nvSpPr>
          <p:cNvPr id="17" name="Text 13"/>
          <p:cNvSpPr/>
          <p:nvPr/>
        </p:nvSpPr>
        <p:spPr>
          <a:xfrm>
            <a:off x="4786313" y="2858895"/>
            <a:ext cx="135731" cy="153591"/>
          </a:xfrm>
          <a:prstGeom prst="rect">
            <a:avLst/>
          </a:prstGeom>
          <a:noFill/>
          <a:ln/>
        </p:spPr>
        <p:txBody>
          <a:bodyPr wrap="none" lIns="0" tIns="0" rIns="0" bIns="0" rtlCol="0" anchor="t">
            <a:spAutoFit/>
          </a:bodyPr>
          <a:lstStyle/>
          <a:p>
            <a:pPr algn="l" indent="0" marL="0">
              <a:buNone/>
            </a:pPr>
            <a:r>
              <a:rPr lang="en-US" sz="800" b="1" dirty="0">
                <a:solidFill>
                  <a:srgbClr val="06B6D4"/>
                </a:solidFill>
                <a:latin typeface="JetBrains Mono" pitchFamily="34" charset="0"/>
                <a:ea typeface="JetBrains Mono" pitchFamily="34" charset="-122"/>
                <a:cs typeface="JetBrains Mono" pitchFamily="34" charset="-120"/>
              </a:rPr>
              <a:t>01</a:t>
            </a:r>
            <a:endParaRPr lang="en-US" sz="800" dirty="0"/>
          </a:p>
        </p:txBody>
      </p:sp>
      <p:sp>
        <p:nvSpPr>
          <p:cNvPr id="18" name="Text 14"/>
          <p:cNvSpPr/>
          <p:nvPr/>
        </p:nvSpPr>
        <p:spPr>
          <a:xfrm>
            <a:off x="5036344" y="2844608"/>
            <a:ext cx="3821906" cy="385763"/>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06B6D4"/>
                </a:solidFill>
                <a:latin typeface="Inter Bold" pitchFamily="34" charset="0"/>
                <a:ea typeface="Inter Bold" pitchFamily="34" charset="-122"/>
                <a:cs typeface="Inter Bold" pitchFamily="34" charset="-120"/>
              </a:rPr>
              <a:t>Active Detection:</a:t>
            </a:r>
            <a:r>
              <a:rPr lang="en-US" sz="950" dirty="0">
                <a:solidFill>
                  <a:srgbClr val="F8FAFC"/>
                </a:solidFill>
                <a:latin typeface="Inter" pitchFamily="34" charset="0"/>
                <a:ea typeface="Inter" pitchFamily="34" charset="-122"/>
                <a:cs typeface="Inter" pitchFamily="34" charset="-120"/>
              </a:rPr>
              <a:t> Continuously verify DNS resolution &amp; cross-</a:t>
            </a:r>
            <a:r>
              <a:rPr lang="en-US" sz="950" dirty="0">
                <a:solidFill>
                  <a:srgbClr val="F8FAFC"/>
                </a:solidFill>
                <a:latin typeface="Inter" pitchFamily="34" charset="0"/>
                <a:ea typeface="Inter" pitchFamily="34" charset="-122"/>
                <a:cs typeface="Inter" pitchFamily="34" charset="-120"/>
              </a:rPr>
              <a:t>namespace connectivity.</a:t>
            </a:r>
            <a:endParaRPr lang="en-US" sz="900" dirty="0"/>
          </a:p>
        </p:txBody>
      </p:sp>
      <p:sp>
        <p:nvSpPr>
          <p:cNvPr id="19" name="Text 15"/>
          <p:cNvSpPr/>
          <p:nvPr/>
        </p:nvSpPr>
        <p:spPr>
          <a:xfrm>
            <a:off x="4786313" y="3387533"/>
            <a:ext cx="135731" cy="153591"/>
          </a:xfrm>
          <a:prstGeom prst="rect">
            <a:avLst/>
          </a:prstGeom>
          <a:noFill/>
          <a:ln/>
        </p:spPr>
        <p:txBody>
          <a:bodyPr wrap="none" lIns="0" tIns="0" rIns="0" bIns="0" rtlCol="0" anchor="t">
            <a:spAutoFit/>
          </a:bodyPr>
          <a:lstStyle/>
          <a:p>
            <a:pPr algn="l" indent="0" marL="0">
              <a:buNone/>
            </a:pPr>
            <a:r>
              <a:rPr lang="en-US" sz="800" b="1" dirty="0">
                <a:solidFill>
                  <a:srgbClr val="06B6D4"/>
                </a:solidFill>
                <a:latin typeface="JetBrains Mono" pitchFamily="34" charset="0"/>
                <a:ea typeface="JetBrains Mono" pitchFamily="34" charset="-122"/>
                <a:cs typeface="JetBrains Mono" pitchFamily="34" charset="-120"/>
              </a:rPr>
              <a:t>02</a:t>
            </a:r>
            <a:endParaRPr lang="en-US" sz="800" dirty="0"/>
          </a:p>
        </p:txBody>
      </p:sp>
      <p:sp>
        <p:nvSpPr>
          <p:cNvPr id="20" name="Text 16"/>
          <p:cNvSpPr/>
          <p:nvPr/>
        </p:nvSpPr>
        <p:spPr>
          <a:xfrm>
            <a:off x="5036344" y="3373245"/>
            <a:ext cx="3821906" cy="385763"/>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06B6D4"/>
                </a:solidFill>
                <a:latin typeface="Inter Bold" pitchFamily="34" charset="0"/>
                <a:ea typeface="Inter Bold" pitchFamily="34" charset="-122"/>
                <a:cs typeface="Inter Bold" pitchFamily="34" charset="-120"/>
              </a:rPr>
              <a:t>Automated Remediation:</a:t>
            </a:r>
            <a:r>
              <a:rPr lang="en-US" sz="950" dirty="0">
                <a:solidFill>
                  <a:srgbClr val="F8FAFC"/>
                </a:solidFill>
                <a:latin typeface="Inter" pitchFamily="34" charset="0"/>
                <a:ea typeface="Inter" pitchFamily="34" charset="-122"/>
                <a:cs typeface="Inter" pitchFamily="34" charset="-120"/>
              </a:rPr>
              <a:t> Programmatically resolve faults </a:t>
            </a:r>
            <a:r>
              <a:rPr lang="en-US" sz="950" dirty="0">
                <a:solidFill>
                  <a:srgbClr val="F8FAFC"/>
                </a:solidFill>
                <a:latin typeface="Inter" pitchFamily="34" charset="0"/>
                <a:ea typeface="Inter" pitchFamily="34" charset="-122"/>
                <a:cs typeface="Inter" pitchFamily="34" charset="-120"/>
              </a:rPr>
              <a:t>without human intervention.</a:t>
            </a:r>
            <a:endParaRPr lang="en-US" sz="900" dirty="0"/>
          </a:p>
        </p:txBody>
      </p:sp>
      <p:sp>
        <p:nvSpPr>
          <p:cNvPr id="21" name="Text 17"/>
          <p:cNvSpPr/>
          <p:nvPr/>
        </p:nvSpPr>
        <p:spPr>
          <a:xfrm>
            <a:off x="4786313" y="3916170"/>
            <a:ext cx="135731" cy="153591"/>
          </a:xfrm>
          <a:prstGeom prst="rect">
            <a:avLst/>
          </a:prstGeom>
          <a:noFill/>
          <a:ln/>
        </p:spPr>
        <p:txBody>
          <a:bodyPr wrap="none" lIns="0" tIns="0" rIns="0" bIns="0" rtlCol="0" anchor="t">
            <a:spAutoFit/>
          </a:bodyPr>
          <a:lstStyle/>
          <a:p>
            <a:pPr algn="l" indent="0" marL="0">
              <a:buNone/>
            </a:pPr>
            <a:r>
              <a:rPr lang="en-US" sz="800" b="1" dirty="0">
                <a:solidFill>
                  <a:srgbClr val="06B6D4"/>
                </a:solidFill>
                <a:latin typeface="JetBrains Mono" pitchFamily="34" charset="0"/>
                <a:ea typeface="JetBrains Mono" pitchFamily="34" charset="-122"/>
                <a:cs typeface="JetBrains Mono" pitchFamily="34" charset="-120"/>
              </a:rPr>
              <a:t>03</a:t>
            </a:r>
            <a:endParaRPr lang="en-US" sz="800" dirty="0"/>
          </a:p>
        </p:txBody>
      </p:sp>
      <p:sp>
        <p:nvSpPr>
          <p:cNvPr id="22" name="Text 18"/>
          <p:cNvSpPr/>
          <p:nvPr/>
        </p:nvSpPr>
        <p:spPr>
          <a:xfrm>
            <a:off x="5036344" y="3901883"/>
            <a:ext cx="3821906" cy="385763"/>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06B6D4"/>
                </a:solidFill>
                <a:latin typeface="Inter Bold" pitchFamily="34" charset="0"/>
                <a:ea typeface="Inter Bold" pitchFamily="34" charset="-122"/>
                <a:cs typeface="Inter Bold" pitchFamily="34" charset="-120"/>
              </a:rPr>
              <a:t>Real-time Observability:</a:t>
            </a:r>
            <a:r>
              <a:rPr lang="en-US" sz="950" dirty="0">
                <a:solidFill>
                  <a:srgbClr val="F8FAFC"/>
                </a:solidFill>
                <a:latin typeface="Inter" pitchFamily="34" charset="0"/>
                <a:ea typeface="Inter" pitchFamily="34" charset="-122"/>
                <a:cs typeface="Inter" pitchFamily="34" charset="-120"/>
              </a:rPr>
              <a:t> Visualize the failure-and-recovery </a:t>
            </a:r>
            <a:r>
              <a:rPr lang="en-US" sz="950" dirty="0">
                <a:solidFill>
                  <a:srgbClr val="F8FAFC"/>
                </a:solidFill>
                <a:latin typeface="Inter" pitchFamily="34" charset="0"/>
                <a:ea typeface="Inter" pitchFamily="34" charset="-122"/>
                <a:cs typeface="Inter" pitchFamily="34" charset="-120"/>
              </a:rPr>
              <a:t>lifecycle in real-time.</a:t>
            </a:r>
            <a:endParaRPr lang="en-US" sz="900" dirty="0"/>
          </a:p>
        </p:txBody>
      </p:sp>
      <p:sp>
        <p:nvSpPr>
          <p:cNvPr id="23" name="Shape 19"/>
          <p:cNvSpPr/>
          <p:nvPr/>
        </p:nvSpPr>
        <p:spPr>
          <a:xfrm>
            <a:off x="0" y="4857750"/>
            <a:ext cx="9144000" cy="285750"/>
          </a:xfrm>
          <a:prstGeom prst="rect">
            <a:avLst/>
          </a:prstGeom>
          <a:solidFill>
            <a:srgbClr val="000000">
              <a:alpha val="0"/>
            </a:srgbClr>
          </a:solidFill>
          <a:ln/>
        </p:spPr>
      </p:sp>
      <p:sp>
        <p:nvSpPr>
          <p:cNvPr id="24" name="Shape 20"/>
          <p:cNvSpPr/>
          <p:nvPr/>
        </p:nvSpPr>
        <p:spPr>
          <a:xfrm>
            <a:off x="0" y="4857750"/>
            <a:ext cx="9144000" cy="7144"/>
          </a:xfrm>
          <a:prstGeom prst="rect">
            <a:avLst/>
          </a:prstGeom>
          <a:solidFill>
            <a:srgbClr val="334155"/>
          </a:solidFill>
          <a:ln/>
        </p:spPr>
      </p:sp>
      <p:sp>
        <p:nvSpPr>
          <p:cNvPr id="25" name="Text 21"/>
          <p:cNvSpPr/>
          <p:nvPr/>
        </p:nvSpPr>
        <p:spPr>
          <a:xfrm>
            <a:off x="285750" y="4934545"/>
            <a:ext cx="1639491" cy="132159"/>
          </a:xfrm>
          <a:prstGeom prst="rect">
            <a:avLst/>
          </a:prstGeom>
          <a:noFill/>
          <a:ln/>
        </p:spPr>
        <p:txBody>
          <a:bodyPr wrap="square" lIns="0" tIns="0" rIns="0" bIns="0" rtlCol="0" anchor="t">
            <a:spAutoFit/>
          </a:bodyPr>
          <a:lstStyle/>
          <a:p>
            <a:pPr algn="l" indent="0" marL="0">
              <a:buNone/>
            </a:pPr>
            <a:r>
              <a:rPr lang="en-US" sz="750" dirty="0">
                <a:solidFill>
                  <a:srgbClr val="94A3B8"/>
                </a:solidFill>
                <a:latin typeface="JetBrains Mono" pitchFamily="34" charset="0"/>
                <a:ea typeface="JetBrains Mono" pitchFamily="34" charset="-122"/>
                <a:cs typeface="JetBrains Mono" pitchFamily="34" charset="-120"/>
              </a:rPr>
              <a:t>K8S-AUTO-HEAL // EVALUATION</a:t>
            </a:r>
            <a:endParaRPr lang="en-US" sz="750" dirty="0"/>
          </a:p>
        </p:txBody>
      </p:sp>
      <p:sp>
        <p:nvSpPr>
          <p:cNvPr id="26" name="Text 22"/>
          <p:cNvSpPr/>
          <p:nvPr/>
        </p:nvSpPr>
        <p:spPr>
          <a:xfrm>
            <a:off x="8736806" y="4934545"/>
            <a:ext cx="121444" cy="132159"/>
          </a:xfrm>
          <a:prstGeom prst="rect">
            <a:avLst/>
          </a:prstGeom>
          <a:noFill/>
          <a:ln/>
        </p:spPr>
        <p:txBody>
          <a:bodyPr wrap="none" lIns="0" tIns="0" rIns="0" bIns="0" rtlCol="0" anchor="t">
            <a:spAutoFit/>
          </a:bodyPr>
          <a:lstStyle/>
          <a:p>
            <a:pPr algn="l" indent="0" marL="0">
              <a:buNone/>
            </a:pPr>
            <a:r>
              <a:rPr lang="en-US" sz="750" dirty="0">
                <a:solidFill>
                  <a:srgbClr val="94A3B8"/>
                </a:solidFill>
                <a:latin typeface="JetBrains Mono" pitchFamily="34" charset="0"/>
                <a:ea typeface="JetBrains Mono" pitchFamily="34" charset="-122"/>
                <a:cs typeface="JetBrains Mono" pitchFamily="34" charset="-120"/>
              </a:rPr>
              <a:t>01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85750" y="285750"/>
            <a:ext cx="8572500" cy="642938"/>
          </a:xfrm>
          <a:prstGeom prst="rect">
            <a:avLst/>
          </a:prstGeom>
          <a:solidFill>
            <a:srgbClr val="000000">
              <a:alpha val="0"/>
            </a:srgbClr>
          </a:solidFill>
          <a:ln/>
        </p:spPr>
      </p:sp>
      <p:sp>
        <p:nvSpPr>
          <p:cNvPr id="5" name="Shape 1"/>
          <p:cNvSpPr/>
          <p:nvPr/>
        </p:nvSpPr>
        <p:spPr>
          <a:xfrm>
            <a:off x="285750" y="285750"/>
            <a:ext cx="28575" cy="642938"/>
          </a:xfrm>
          <a:prstGeom prst="rect">
            <a:avLst/>
          </a:prstGeom>
          <a:solidFill>
            <a:srgbClr val="06B6D4"/>
          </a:solidFill>
          <a:ln/>
        </p:spPr>
      </p:sp>
      <p:sp>
        <p:nvSpPr>
          <p:cNvPr id="6" name="Text 2"/>
          <p:cNvSpPr/>
          <p:nvPr/>
        </p:nvSpPr>
        <p:spPr>
          <a:xfrm>
            <a:off x="428625" y="285750"/>
            <a:ext cx="8429625" cy="414338"/>
          </a:xfrm>
          <a:prstGeom prst="rect">
            <a:avLst/>
          </a:prstGeom>
          <a:noFill/>
          <a:ln/>
        </p:spPr>
        <p:txBody>
          <a:bodyPr wrap="square" lIns="0" tIns="0" rIns="0" bIns="0" rtlCol="0" anchor="t">
            <a:spAutoFit/>
          </a:bodyPr>
          <a:lstStyle/>
          <a:p>
            <a:pPr algn="l" indent="0" marL="0">
              <a:buNone/>
            </a:pPr>
            <a:r>
              <a:rPr lang="en-US" sz="2450" b="1" spc="-1" kern="0" dirty="0">
                <a:solidFill>
                  <a:srgbClr val="F8FAFC"/>
                </a:solidFill>
                <a:latin typeface="Inter Bold" pitchFamily="34" charset="0"/>
                <a:ea typeface="Inter Bold" pitchFamily="34" charset="-122"/>
                <a:cs typeface="Inter Bold" pitchFamily="34" charset="-120"/>
              </a:rPr>
              <a:t>4-Layer Self-Healing Architecture</a:t>
            </a:r>
            <a:endParaRPr lang="en-US" sz="2450" dirty="0"/>
          </a:p>
        </p:txBody>
      </p:sp>
      <p:sp>
        <p:nvSpPr>
          <p:cNvPr id="7" name="Text 3"/>
          <p:cNvSpPr/>
          <p:nvPr/>
        </p:nvSpPr>
        <p:spPr>
          <a:xfrm>
            <a:off x="428625" y="757238"/>
            <a:ext cx="8429625" cy="171450"/>
          </a:xfrm>
          <a:prstGeom prst="rect">
            <a:avLst/>
          </a:prstGeom>
          <a:noFill/>
          <a:ln/>
        </p:spPr>
        <p:txBody>
          <a:bodyPr wrap="square" lIns="0" tIns="0" rIns="0" bIns="0" rtlCol="0" anchor="t">
            <a:spAutoFit/>
          </a:bodyPr>
          <a:lstStyle/>
          <a:p>
            <a:pPr algn="l" indent="0" marL="0">
              <a:buNone/>
            </a:pPr>
            <a:r>
              <a:rPr lang="en-US" sz="950" dirty="0">
                <a:solidFill>
                  <a:srgbClr val="06B6D4"/>
                </a:solidFill>
                <a:latin typeface="JetBrains Mono" pitchFamily="34" charset="0"/>
                <a:ea typeface="JetBrains Mono" pitchFamily="34" charset="-122"/>
                <a:cs typeface="JetBrains Mono" pitchFamily="34" charset="-120"/>
              </a:rPr>
              <a:t>SYSTEM DESIGN &amp; MECHANISM OVERVIEW</a:t>
            </a:r>
            <a:endParaRPr lang="en-US" sz="950" dirty="0"/>
          </a:p>
        </p:txBody>
      </p:sp>
      <p:sp>
        <p:nvSpPr>
          <p:cNvPr id="8" name="Shape 4"/>
          <p:cNvSpPr/>
          <p:nvPr/>
        </p:nvSpPr>
        <p:spPr>
          <a:xfrm>
            <a:off x="428625" y="1871663"/>
            <a:ext cx="1857375" cy="1971675"/>
          </a:xfrm>
          <a:prstGeom prst="rect">
            <a:avLst/>
          </a:prstGeom>
          <a:solidFill>
            <a:srgbClr val="1E293B"/>
          </a:solidFill>
          <a:ln w="9144">
            <a:solidFill>
              <a:srgbClr val="334155"/>
            </a:solidFill>
            <a:prstDash val="solid"/>
          </a:ln>
        </p:spPr>
      </p:sp>
      <p:sp>
        <p:nvSpPr>
          <p:cNvPr id="9" name="Text 5"/>
          <p:cNvSpPr/>
          <p:nvPr/>
        </p:nvSpPr>
        <p:spPr>
          <a:xfrm>
            <a:off x="571500" y="2021681"/>
            <a:ext cx="1571625" cy="175022"/>
          </a:xfrm>
          <a:prstGeom prst="rect">
            <a:avLst/>
          </a:prstGeom>
          <a:noFill/>
          <a:ln/>
        </p:spPr>
        <p:txBody>
          <a:bodyPr wrap="square" lIns="0" tIns="0" rIns="0" bIns="68072" rtlCol="0" anchor="t">
            <a:spAutoFit/>
          </a:bodyPr>
          <a:lstStyle/>
          <a:p>
            <a:pPr algn="l" indent="0" marL="0">
              <a:buNone/>
            </a:pPr>
            <a:r>
              <a:rPr lang="en-US" sz="600" dirty="0">
                <a:solidFill>
                  <a:srgbClr val="94A3B8"/>
                </a:solidFill>
                <a:latin typeface="JetBrains Mono" pitchFamily="34" charset="0"/>
                <a:ea typeface="JetBrains Mono" pitchFamily="34" charset="-122"/>
                <a:cs typeface="JetBrains Mono" pitchFamily="34" charset="-120"/>
              </a:rPr>
              <a:t>LAYER 1</a:t>
            </a:r>
            <a:endParaRPr lang="en-US" sz="600" dirty="0"/>
          </a:p>
        </p:txBody>
      </p:sp>
      <p:sp>
        <p:nvSpPr>
          <p:cNvPr id="10" name="Text 6"/>
          <p:cNvSpPr/>
          <p:nvPr/>
        </p:nvSpPr>
        <p:spPr>
          <a:xfrm>
            <a:off x="571500" y="2339578"/>
            <a:ext cx="1571625" cy="157163"/>
          </a:xfrm>
          <a:prstGeom prst="rect">
            <a:avLst/>
          </a:prstGeom>
          <a:noFill/>
          <a:ln/>
        </p:spPr>
        <p:txBody>
          <a:bodyPr wrap="square" lIns="0" tIns="0" rIns="0" bIns="0" rtlCol="0" anchor="t">
            <a:spAutoFit/>
          </a:bodyPr>
          <a:lstStyle/>
          <a:p>
            <a:pPr algn="l" indent="0" marL="0">
              <a:buNone/>
            </a:pPr>
            <a:r>
              <a:rPr lang="en-US" sz="900" b="1" dirty="0">
                <a:solidFill>
                  <a:srgbClr val="F8FAFC"/>
                </a:solidFill>
                <a:latin typeface="Inter Bold" pitchFamily="34" charset="0"/>
                <a:ea typeface="Inter Bold" pitchFamily="34" charset="-122"/>
                <a:cs typeface="Inter Bold" pitchFamily="34" charset="-120"/>
              </a:rPr>
              <a:t>Infrastructure</a:t>
            </a:r>
            <a:endParaRPr lang="en-US" sz="900" dirty="0"/>
          </a:p>
        </p:txBody>
      </p:sp>
      <p:sp>
        <p:nvSpPr>
          <p:cNvPr id="11" name="Shape 7"/>
          <p:cNvSpPr/>
          <p:nvPr/>
        </p:nvSpPr>
        <p:spPr>
          <a:xfrm>
            <a:off x="571500" y="2653903"/>
            <a:ext cx="1571625" cy="289322"/>
          </a:xfrm>
          <a:prstGeom prst="rect">
            <a:avLst/>
          </a:prstGeom>
          <a:solidFill>
            <a:srgbClr val="0F172A"/>
          </a:solidFill>
          <a:ln w="9144">
            <a:solidFill>
              <a:srgbClr val="94A3B8"/>
            </a:solidFill>
            <a:prstDash val="solid"/>
          </a:ln>
        </p:spPr>
      </p:sp>
      <p:sp>
        <p:nvSpPr>
          <p:cNvPr id="12" name="Text 8"/>
          <p:cNvSpPr/>
          <p:nvPr/>
        </p:nvSpPr>
        <p:spPr>
          <a:xfrm>
            <a:off x="571500" y="2653903"/>
            <a:ext cx="1571625" cy="289322"/>
          </a:xfrm>
          <a:prstGeom prst="rect">
            <a:avLst/>
          </a:prstGeom>
          <a:noFill/>
          <a:ln/>
        </p:spPr>
        <p:txBody>
          <a:bodyPr wrap="square" lIns="85090" tIns="85090" rIns="85090" bIns="85090" rtlCol="0" anchor="t">
            <a:spAutoFit/>
          </a:bodyPr>
          <a:lstStyle/>
          <a:p>
            <a:pPr algn="ctr" indent="0" marL="0">
              <a:buNone/>
            </a:pPr>
            <a:r>
              <a:rPr lang="en-US" sz="750" dirty="0">
                <a:solidFill>
                  <a:srgbClr val="94A3B8"/>
                </a:solidFill>
                <a:latin typeface="JetBrains Mono" pitchFamily="34" charset="0"/>
                <a:ea typeface="JetBrains Mono" pitchFamily="34" charset="-122"/>
                <a:cs typeface="JetBrains Mono" pitchFamily="34" charset="-120"/>
              </a:rPr>
              <a:t>CoreDNS Pods</a:t>
            </a:r>
            <a:endParaRPr lang="en-US" sz="750" dirty="0"/>
          </a:p>
        </p:txBody>
      </p:sp>
      <p:sp>
        <p:nvSpPr>
          <p:cNvPr id="13" name="Shape 9"/>
          <p:cNvSpPr/>
          <p:nvPr/>
        </p:nvSpPr>
        <p:spPr>
          <a:xfrm>
            <a:off x="571500" y="3021806"/>
            <a:ext cx="1571625" cy="289322"/>
          </a:xfrm>
          <a:prstGeom prst="rect">
            <a:avLst/>
          </a:prstGeom>
          <a:solidFill>
            <a:srgbClr val="0F172A"/>
          </a:solidFill>
          <a:ln w="9144">
            <a:solidFill>
              <a:srgbClr val="94A3B8"/>
            </a:solidFill>
            <a:prstDash val="solid"/>
          </a:ln>
        </p:spPr>
      </p:sp>
      <p:sp>
        <p:nvSpPr>
          <p:cNvPr id="14" name="Text 10"/>
          <p:cNvSpPr/>
          <p:nvPr/>
        </p:nvSpPr>
        <p:spPr>
          <a:xfrm>
            <a:off x="571500" y="3021806"/>
            <a:ext cx="1571625" cy="289322"/>
          </a:xfrm>
          <a:prstGeom prst="rect">
            <a:avLst/>
          </a:prstGeom>
          <a:noFill/>
          <a:ln/>
        </p:spPr>
        <p:txBody>
          <a:bodyPr wrap="square" lIns="85090" tIns="85090" rIns="85090" bIns="85090" rtlCol="0" anchor="t">
            <a:spAutoFit/>
          </a:bodyPr>
          <a:lstStyle/>
          <a:p>
            <a:pPr algn="ctr" indent="0" marL="0">
              <a:buNone/>
            </a:pPr>
            <a:r>
              <a:rPr lang="en-US" sz="750" dirty="0">
                <a:solidFill>
                  <a:srgbClr val="94A3B8"/>
                </a:solidFill>
                <a:latin typeface="JetBrains Mono" pitchFamily="34" charset="0"/>
                <a:ea typeface="JetBrains Mono" pitchFamily="34" charset="-122"/>
                <a:cs typeface="JetBrains Mono" pitchFamily="34" charset="-120"/>
              </a:rPr>
              <a:t>Network Policies</a:t>
            </a:r>
            <a:endParaRPr lang="en-US" sz="750" dirty="0"/>
          </a:p>
        </p:txBody>
      </p:sp>
      <p:sp>
        <p:nvSpPr>
          <p:cNvPr id="15" name="Shape 11"/>
          <p:cNvSpPr/>
          <p:nvPr/>
        </p:nvSpPr>
        <p:spPr>
          <a:xfrm>
            <a:off x="571500" y="3389709"/>
            <a:ext cx="1571625" cy="289322"/>
          </a:xfrm>
          <a:prstGeom prst="rect">
            <a:avLst/>
          </a:prstGeom>
          <a:solidFill>
            <a:srgbClr val="0F172A"/>
          </a:solidFill>
          <a:ln w="9144">
            <a:solidFill>
              <a:srgbClr val="94A3B8"/>
            </a:solidFill>
            <a:prstDash val="solid"/>
          </a:ln>
        </p:spPr>
      </p:sp>
      <p:sp>
        <p:nvSpPr>
          <p:cNvPr id="16" name="Text 12"/>
          <p:cNvSpPr/>
          <p:nvPr/>
        </p:nvSpPr>
        <p:spPr>
          <a:xfrm>
            <a:off x="571500" y="3389709"/>
            <a:ext cx="1571625" cy="289322"/>
          </a:xfrm>
          <a:prstGeom prst="rect">
            <a:avLst/>
          </a:prstGeom>
          <a:noFill/>
          <a:ln/>
        </p:spPr>
        <p:txBody>
          <a:bodyPr wrap="square" lIns="85090" tIns="85090" rIns="85090" bIns="85090" rtlCol="0" anchor="t">
            <a:spAutoFit/>
          </a:bodyPr>
          <a:lstStyle/>
          <a:p>
            <a:pPr algn="ctr" indent="0" marL="0">
              <a:buNone/>
            </a:pPr>
            <a:r>
              <a:rPr lang="en-US" sz="750" dirty="0">
                <a:solidFill>
                  <a:srgbClr val="94A3B8"/>
                </a:solidFill>
                <a:latin typeface="JetBrains Mono" pitchFamily="34" charset="0"/>
                <a:ea typeface="JetBrains Mono" pitchFamily="34" charset="-122"/>
                <a:cs typeface="JetBrains Mono" pitchFamily="34" charset="-120"/>
              </a:rPr>
              <a:t>Calico CNI</a:t>
            </a:r>
            <a:endParaRPr lang="en-US" sz="750" dirty="0"/>
          </a:p>
        </p:txBody>
      </p:sp>
      <p:sp>
        <p:nvSpPr>
          <p:cNvPr id="17" name="Shape 13"/>
          <p:cNvSpPr/>
          <p:nvPr/>
        </p:nvSpPr>
        <p:spPr>
          <a:xfrm>
            <a:off x="2286000" y="2857500"/>
            <a:ext cx="285750" cy="14288"/>
          </a:xfrm>
          <a:prstGeom prst="rect">
            <a:avLst/>
          </a:prstGeom>
          <a:solidFill>
            <a:srgbClr val="334155"/>
          </a:solidFill>
          <a:ln/>
        </p:spPr>
      </p:sp>
      <p:sp>
        <p:nvSpPr>
          <p:cNvPr id="18" name="Shape 14"/>
          <p:cNvSpPr/>
          <p:nvPr/>
        </p:nvSpPr>
        <p:spPr>
          <a:xfrm>
            <a:off x="2571750" y="1900238"/>
            <a:ext cx="1857375" cy="1914525"/>
          </a:xfrm>
          <a:prstGeom prst="rect">
            <a:avLst/>
          </a:prstGeom>
          <a:solidFill>
            <a:srgbClr val="1E293B"/>
          </a:solidFill>
          <a:ln w="9144">
            <a:solidFill>
              <a:srgbClr val="334155"/>
            </a:solidFill>
            <a:prstDash val="solid"/>
          </a:ln>
        </p:spPr>
      </p:sp>
      <p:sp>
        <p:nvSpPr>
          <p:cNvPr id="19" name="Text 15"/>
          <p:cNvSpPr/>
          <p:nvPr/>
        </p:nvSpPr>
        <p:spPr>
          <a:xfrm>
            <a:off x="2714625" y="2043113"/>
            <a:ext cx="1571625" cy="175022"/>
          </a:xfrm>
          <a:prstGeom prst="rect">
            <a:avLst/>
          </a:prstGeom>
          <a:noFill/>
          <a:ln/>
        </p:spPr>
        <p:txBody>
          <a:bodyPr wrap="square" lIns="0" tIns="0" rIns="0" bIns="68072" rtlCol="0" anchor="t">
            <a:spAutoFit/>
          </a:bodyPr>
          <a:lstStyle/>
          <a:p>
            <a:pPr algn="l" indent="0" marL="0">
              <a:buNone/>
            </a:pPr>
            <a:r>
              <a:rPr lang="en-US" sz="600" dirty="0">
                <a:solidFill>
                  <a:srgbClr val="94A3B8"/>
                </a:solidFill>
                <a:latin typeface="JetBrains Mono" pitchFamily="34" charset="0"/>
                <a:ea typeface="JetBrains Mono" pitchFamily="34" charset="-122"/>
                <a:cs typeface="JetBrains Mono" pitchFamily="34" charset="-120"/>
              </a:rPr>
              <a:t>LAYER 2</a:t>
            </a:r>
            <a:endParaRPr lang="en-US" sz="600" dirty="0"/>
          </a:p>
        </p:txBody>
      </p:sp>
      <p:sp>
        <p:nvSpPr>
          <p:cNvPr id="20" name="Text 16"/>
          <p:cNvSpPr/>
          <p:nvPr/>
        </p:nvSpPr>
        <p:spPr>
          <a:xfrm>
            <a:off x="2714625" y="2361009"/>
            <a:ext cx="1571625" cy="157163"/>
          </a:xfrm>
          <a:prstGeom prst="rect">
            <a:avLst/>
          </a:prstGeom>
          <a:noFill/>
          <a:ln/>
        </p:spPr>
        <p:txBody>
          <a:bodyPr wrap="square" lIns="0" tIns="0" rIns="0" bIns="0" rtlCol="0" anchor="t">
            <a:spAutoFit/>
          </a:bodyPr>
          <a:lstStyle/>
          <a:p>
            <a:pPr algn="l" indent="0" marL="0">
              <a:buNone/>
            </a:pPr>
            <a:r>
              <a:rPr lang="en-US" sz="900" b="1" dirty="0">
                <a:solidFill>
                  <a:srgbClr val="F8FAFC"/>
                </a:solidFill>
                <a:latin typeface="Inter Bold" pitchFamily="34" charset="0"/>
                <a:ea typeface="Inter Bold" pitchFamily="34" charset="-122"/>
                <a:cs typeface="Inter Bold" pitchFamily="34" charset="-120"/>
              </a:rPr>
              <a:t>Active Detection</a:t>
            </a:r>
            <a:endParaRPr lang="en-US" sz="900" dirty="0"/>
          </a:p>
        </p:txBody>
      </p:sp>
      <p:sp>
        <p:nvSpPr>
          <p:cNvPr id="21" name="Shape 17"/>
          <p:cNvSpPr/>
          <p:nvPr/>
        </p:nvSpPr>
        <p:spPr>
          <a:xfrm>
            <a:off x="2714625" y="2675334"/>
            <a:ext cx="1571625" cy="289322"/>
          </a:xfrm>
          <a:prstGeom prst="rect">
            <a:avLst/>
          </a:prstGeom>
          <a:solidFill>
            <a:srgbClr val="0F172A"/>
          </a:solidFill>
          <a:ln w="9144">
            <a:solidFill>
              <a:srgbClr val="06B6D4"/>
            </a:solidFill>
            <a:prstDash val="solid"/>
          </a:ln>
        </p:spPr>
      </p:sp>
      <p:sp>
        <p:nvSpPr>
          <p:cNvPr id="22" name="Text 18"/>
          <p:cNvSpPr/>
          <p:nvPr/>
        </p:nvSpPr>
        <p:spPr>
          <a:xfrm>
            <a:off x="2714625" y="2675334"/>
            <a:ext cx="1571625" cy="289322"/>
          </a:xfrm>
          <a:prstGeom prst="rect">
            <a:avLst/>
          </a:prstGeom>
          <a:noFill/>
          <a:ln/>
        </p:spPr>
        <p:txBody>
          <a:bodyPr wrap="square" lIns="85090" tIns="85090" rIns="85090" bIns="85090" rtlCol="0" anchor="t">
            <a:spAutoFit/>
          </a:bodyPr>
          <a:lstStyle/>
          <a:p>
            <a:pPr algn="ctr" indent="0" marL="0">
              <a:buNone/>
            </a:pPr>
            <a:r>
              <a:rPr lang="en-US" sz="750" dirty="0">
                <a:solidFill>
                  <a:srgbClr val="06B6D4"/>
                </a:solidFill>
                <a:latin typeface="JetBrains Mono" pitchFamily="34" charset="0"/>
                <a:ea typeface="JetBrains Mono" pitchFamily="34" charset="-122"/>
                <a:cs typeface="JetBrains Mono" pitchFamily="34" charset="-120"/>
              </a:rPr>
              <a:t>dns-probe</a:t>
            </a:r>
            <a:endParaRPr lang="en-US" sz="750" dirty="0"/>
          </a:p>
        </p:txBody>
      </p:sp>
      <p:sp>
        <p:nvSpPr>
          <p:cNvPr id="23" name="Shape 19"/>
          <p:cNvSpPr/>
          <p:nvPr/>
        </p:nvSpPr>
        <p:spPr>
          <a:xfrm>
            <a:off x="2714625" y="3036094"/>
            <a:ext cx="1571625" cy="289322"/>
          </a:xfrm>
          <a:prstGeom prst="rect">
            <a:avLst/>
          </a:prstGeom>
          <a:solidFill>
            <a:srgbClr val="0F172A"/>
          </a:solidFill>
          <a:ln w="9144">
            <a:solidFill>
              <a:srgbClr val="06B6D4"/>
            </a:solidFill>
            <a:prstDash val="solid"/>
          </a:ln>
        </p:spPr>
      </p:sp>
      <p:sp>
        <p:nvSpPr>
          <p:cNvPr id="24" name="Text 20"/>
          <p:cNvSpPr/>
          <p:nvPr/>
        </p:nvSpPr>
        <p:spPr>
          <a:xfrm>
            <a:off x="2714625" y="3036094"/>
            <a:ext cx="1571625" cy="289322"/>
          </a:xfrm>
          <a:prstGeom prst="rect">
            <a:avLst/>
          </a:prstGeom>
          <a:noFill/>
          <a:ln/>
        </p:spPr>
        <p:txBody>
          <a:bodyPr wrap="square" lIns="85090" tIns="85090" rIns="85090" bIns="85090" rtlCol="0" anchor="t">
            <a:spAutoFit/>
          </a:bodyPr>
          <a:lstStyle/>
          <a:p>
            <a:pPr algn="ctr" indent="0" marL="0">
              <a:buNone/>
            </a:pPr>
            <a:r>
              <a:rPr lang="en-US" sz="750" dirty="0">
                <a:solidFill>
                  <a:srgbClr val="06B6D4"/>
                </a:solidFill>
                <a:latin typeface="JetBrains Mono" pitchFamily="34" charset="0"/>
                <a:ea typeface="JetBrains Mono" pitchFamily="34" charset="-122"/>
                <a:cs typeface="JetBrains Mono" pitchFamily="34" charset="-120"/>
              </a:rPr>
              <a:t>connectivity-probe</a:t>
            </a:r>
            <a:endParaRPr lang="en-US" sz="750" dirty="0"/>
          </a:p>
        </p:txBody>
      </p:sp>
      <p:sp>
        <p:nvSpPr>
          <p:cNvPr id="25" name="Shape 21"/>
          <p:cNvSpPr/>
          <p:nvPr/>
        </p:nvSpPr>
        <p:spPr>
          <a:xfrm>
            <a:off x="4429125" y="2857500"/>
            <a:ext cx="285750" cy="14288"/>
          </a:xfrm>
          <a:prstGeom prst="rect">
            <a:avLst/>
          </a:prstGeom>
          <a:solidFill>
            <a:srgbClr val="334155"/>
          </a:solidFill>
          <a:ln/>
        </p:spPr>
      </p:sp>
      <p:sp>
        <p:nvSpPr>
          <p:cNvPr id="26" name="Shape 22"/>
          <p:cNvSpPr/>
          <p:nvPr/>
        </p:nvSpPr>
        <p:spPr>
          <a:xfrm>
            <a:off x="4714875" y="1900238"/>
            <a:ext cx="1857375" cy="1914525"/>
          </a:xfrm>
          <a:prstGeom prst="rect">
            <a:avLst/>
          </a:prstGeom>
          <a:solidFill>
            <a:srgbClr val="1E293B"/>
          </a:solidFill>
          <a:ln w="9144">
            <a:solidFill>
              <a:srgbClr val="334155"/>
            </a:solidFill>
            <a:prstDash val="solid"/>
          </a:ln>
        </p:spPr>
      </p:sp>
      <p:sp>
        <p:nvSpPr>
          <p:cNvPr id="27" name="Text 23"/>
          <p:cNvSpPr/>
          <p:nvPr/>
        </p:nvSpPr>
        <p:spPr>
          <a:xfrm>
            <a:off x="4857750" y="2043113"/>
            <a:ext cx="1571625" cy="175022"/>
          </a:xfrm>
          <a:prstGeom prst="rect">
            <a:avLst/>
          </a:prstGeom>
          <a:noFill/>
          <a:ln/>
        </p:spPr>
        <p:txBody>
          <a:bodyPr wrap="square" lIns="0" tIns="0" rIns="0" bIns="68072" rtlCol="0" anchor="t">
            <a:spAutoFit/>
          </a:bodyPr>
          <a:lstStyle/>
          <a:p>
            <a:pPr algn="l" indent="0" marL="0">
              <a:buNone/>
            </a:pPr>
            <a:r>
              <a:rPr lang="en-US" sz="600" dirty="0">
                <a:solidFill>
                  <a:srgbClr val="94A3B8"/>
                </a:solidFill>
                <a:latin typeface="JetBrains Mono" pitchFamily="34" charset="0"/>
                <a:ea typeface="JetBrains Mono" pitchFamily="34" charset="-122"/>
                <a:cs typeface="JetBrains Mono" pitchFamily="34" charset="-120"/>
              </a:rPr>
              <a:t>LAYER 3</a:t>
            </a:r>
            <a:endParaRPr lang="en-US" sz="600" dirty="0"/>
          </a:p>
        </p:txBody>
      </p:sp>
      <p:sp>
        <p:nvSpPr>
          <p:cNvPr id="28" name="Text 24"/>
          <p:cNvSpPr/>
          <p:nvPr/>
        </p:nvSpPr>
        <p:spPr>
          <a:xfrm>
            <a:off x="4857750" y="2361009"/>
            <a:ext cx="1571625" cy="157163"/>
          </a:xfrm>
          <a:prstGeom prst="rect">
            <a:avLst/>
          </a:prstGeom>
          <a:noFill/>
          <a:ln/>
        </p:spPr>
        <p:txBody>
          <a:bodyPr wrap="square" lIns="0" tIns="0" rIns="0" bIns="0" rtlCol="0" anchor="t">
            <a:spAutoFit/>
          </a:bodyPr>
          <a:lstStyle/>
          <a:p>
            <a:pPr algn="l" indent="0" marL="0">
              <a:buNone/>
            </a:pPr>
            <a:r>
              <a:rPr lang="en-US" sz="900" b="1" dirty="0">
                <a:solidFill>
                  <a:srgbClr val="F8FAFC"/>
                </a:solidFill>
                <a:latin typeface="Inter Bold" pitchFamily="34" charset="0"/>
                <a:ea typeface="Inter Bold" pitchFamily="34" charset="-122"/>
                <a:cs typeface="Inter Bold" pitchFamily="34" charset="-120"/>
              </a:rPr>
              <a:t>Decision Engine</a:t>
            </a:r>
            <a:endParaRPr lang="en-US" sz="900" dirty="0"/>
          </a:p>
        </p:txBody>
      </p:sp>
      <p:sp>
        <p:nvSpPr>
          <p:cNvPr id="29" name="Shape 25"/>
          <p:cNvSpPr/>
          <p:nvPr/>
        </p:nvSpPr>
        <p:spPr>
          <a:xfrm>
            <a:off x="4857750" y="2675334"/>
            <a:ext cx="1571625" cy="289322"/>
          </a:xfrm>
          <a:prstGeom prst="rect">
            <a:avLst/>
          </a:prstGeom>
          <a:solidFill>
            <a:srgbClr val="0F172A"/>
          </a:solidFill>
          <a:ln w="9144">
            <a:solidFill>
              <a:srgbClr val="F59E0B"/>
            </a:solidFill>
            <a:prstDash val="solid"/>
          </a:ln>
        </p:spPr>
      </p:sp>
      <p:sp>
        <p:nvSpPr>
          <p:cNvPr id="30" name="Text 26"/>
          <p:cNvSpPr/>
          <p:nvPr/>
        </p:nvSpPr>
        <p:spPr>
          <a:xfrm>
            <a:off x="4857750" y="2675334"/>
            <a:ext cx="1571625" cy="289322"/>
          </a:xfrm>
          <a:prstGeom prst="rect">
            <a:avLst/>
          </a:prstGeom>
          <a:noFill/>
          <a:ln/>
        </p:spPr>
        <p:txBody>
          <a:bodyPr wrap="square" lIns="85090" tIns="85090" rIns="85090" bIns="85090" rtlCol="0" anchor="t">
            <a:spAutoFit/>
          </a:bodyPr>
          <a:lstStyle/>
          <a:p>
            <a:pPr algn="ctr" indent="0" marL="0">
              <a:buNone/>
            </a:pPr>
            <a:r>
              <a:rPr lang="en-US" sz="750" dirty="0">
                <a:solidFill>
                  <a:srgbClr val="F59E0B"/>
                </a:solidFill>
                <a:latin typeface="JetBrains Mono" pitchFamily="34" charset="0"/>
                <a:ea typeface="JetBrains Mono" pitchFamily="34" charset="-122"/>
                <a:cs typeface="JetBrains Mono" pitchFamily="34" charset="-120"/>
              </a:rPr>
              <a:t>Prometheus</a:t>
            </a:r>
            <a:endParaRPr lang="en-US" sz="750" dirty="0"/>
          </a:p>
        </p:txBody>
      </p:sp>
      <p:sp>
        <p:nvSpPr>
          <p:cNvPr id="31" name="Shape 27"/>
          <p:cNvSpPr/>
          <p:nvPr/>
        </p:nvSpPr>
        <p:spPr>
          <a:xfrm>
            <a:off x="4857750" y="3036094"/>
            <a:ext cx="1571625" cy="289322"/>
          </a:xfrm>
          <a:prstGeom prst="rect">
            <a:avLst/>
          </a:prstGeom>
          <a:solidFill>
            <a:srgbClr val="0F172A"/>
          </a:solidFill>
          <a:ln w="9144">
            <a:solidFill>
              <a:srgbClr val="F59E0B"/>
            </a:solidFill>
            <a:prstDash val="solid"/>
          </a:ln>
        </p:spPr>
      </p:sp>
      <p:sp>
        <p:nvSpPr>
          <p:cNvPr id="32" name="Text 28"/>
          <p:cNvSpPr/>
          <p:nvPr/>
        </p:nvSpPr>
        <p:spPr>
          <a:xfrm>
            <a:off x="4857750" y="3036094"/>
            <a:ext cx="1571625" cy="289322"/>
          </a:xfrm>
          <a:prstGeom prst="rect">
            <a:avLst/>
          </a:prstGeom>
          <a:noFill/>
          <a:ln/>
        </p:spPr>
        <p:txBody>
          <a:bodyPr wrap="square" lIns="85090" tIns="85090" rIns="85090" bIns="85090" rtlCol="0" anchor="t">
            <a:spAutoFit/>
          </a:bodyPr>
          <a:lstStyle/>
          <a:p>
            <a:pPr algn="ctr" indent="0" marL="0">
              <a:buNone/>
            </a:pPr>
            <a:r>
              <a:rPr lang="en-US" sz="750" dirty="0">
                <a:solidFill>
                  <a:srgbClr val="F59E0B"/>
                </a:solidFill>
                <a:latin typeface="JetBrains Mono" pitchFamily="34" charset="0"/>
                <a:ea typeface="JetBrains Mono" pitchFamily="34" charset="-122"/>
                <a:cs typeface="JetBrains Mono" pitchFamily="34" charset="-120"/>
              </a:rPr>
              <a:t>Alertmanager</a:t>
            </a:r>
            <a:endParaRPr lang="en-US" sz="750" dirty="0"/>
          </a:p>
        </p:txBody>
      </p:sp>
      <p:sp>
        <p:nvSpPr>
          <p:cNvPr id="33" name="Shape 29"/>
          <p:cNvSpPr/>
          <p:nvPr/>
        </p:nvSpPr>
        <p:spPr>
          <a:xfrm>
            <a:off x="6572250" y="2857500"/>
            <a:ext cx="285750" cy="14288"/>
          </a:xfrm>
          <a:prstGeom prst="rect">
            <a:avLst/>
          </a:prstGeom>
          <a:solidFill>
            <a:srgbClr val="334155"/>
          </a:solidFill>
          <a:ln/>
        </p:spPr>
      </p:sp>
      <p:sp>
        <p:nvSpPr>
          <p:cNvPr id="34" name="Shape 30"/>
          <p:cNvSpPr/>
          <p:nvPr/>
        </p:nvSpPr>
        <p:spPr>
          <a:xfrm>
            <a:off x="6858000" y="1900238"/>
            <a:ext cx="1857375" cy="1914525"/>
          </a:xfrm>
          <a:prstGeom prst="rect">
            <a:avLst/>
          </a:prstGeom>
          <a:solidFill>
            <a:srgbClr val="1E293B"/>
          </a:solidFill>
          <a:ln w="9144">
            <a:solidFill>
              <a:srgbClr val="334155"/>
            </a:solidFill>
            <a:prstDash val="solid"/>
          </a:ln>
        </p:spPr>
      </p:sp>
      <p:sp>
        <p:nvSpPr>
          <p:cNvPr id="35" name="Text 31"/>
          <p:cNvSpPr/>
          <p:nvPr/>
        </p:nvSpPr>
        <p:spPr>
          <a:xfrm>
            <a:off x="7000875" y="2043113"/>
            <a:ext cx="1571625" cy="175022"/>
          </a:xfrm>
          <a:prstGeom prst="rect">
            <a:avLst/>
          </a:prstGeom>
          <a:noFill/>
          <a:ln/>
        </p:spPr>
        <p:txBody>
          <a:bodyPr wrap="square" lIns="0" tIns="0" rIns="0" bIns="68072" rtlCol="0" anchor="t">
            <a:spAutoFit/>
          </a:bodyPr>
          <a:lstStyle/>
          <a:p>
            <a:pPr algn="l" indent="0" marL="0">
              <a:buNone/>
            </a:pPr>
            <a:r>
              <a:rPr lang="en-US" sz="600" dirty="0">
                <a:solidFill>
                  <a:srgbClr val="94A3B8"/>
                </a:solidFill>
                <a:latin typeface="JetBrains Mono" pitchFamily="34" charset="0"/>
                <a:ea typeface="JetBrains Mono" pitchFamily="34" charset="-122"/>
                <a:cs typeface="JetBrains Mono" pitchFamily="34" charset="-120"/>
              </a:rPr>
              <a:t>LAYER 4</a:t>
            </a:r>
            <a:endParaRPr lang="en-US" sz="600" dirty="0"/>
          </a:p>
        </p:txBody>
      </p:sp>
      <p:sp>
        <p:nvSpPr>
          <p:cNvPr id="36" name="Text 32"/>
          <p:cNvSpPr/>
          <p:nvPr/>
        </p:nvSpPr>
        <p:spPr>
          <a:xfrm>
            <a:off x="7000875" y="2361009"/>
            <a:ext cx="1571625" cy="157163"/>
          </a:xfrm>
          <a:prstGeom prst="rect">
            <a:avLst/>
          </a:prstGeom>
          <a:noFill/>
          <a:ln/>
        </p:spPr>
        <p:txBody>
          <a:bodyPr wrap="square" lIns="0" tIns="0" rIns="0" bIns="0" rtlCol="0" anchor="t">
            <a:spAutoFit/>
          </a:bodyPr>
          <a:lstStyle/>
          <a:p>
            <a:pPr algn="l" indent="0" marL="0">
              <a:buNone/>
            </a:pPr>
            <a:r>
              <a:rPr lang="en-US" sz="900" b="1" dirty="0">
                <a:solidFill>
                  <a:srgbClr val="F8FAFC"/>
                </a:solidFill>
                <a:latin typeface="Inter Bold" pitchFamily="34" charset="0"/>
                <a:ea typeface="Inter Bold" pitchFamily="34" charset="-122"/>
                <a:cs typeface="Inter Bold" pitchFamily="34" charset="-120"/>
              </a:rPr>
              <a:t>Remediation</a:t>
            </a:r>
            <a:endParaRPr lang="en-US" sz="900" dirty="0"/>
          </a:p>
        </p:txBody>
      </p:sp>
      <p:sp>
        <p:nvSpPr>
          <p:cNvPr id="37" name="Shape 33"/>
          <p:cNvSpPr/>
          <p:nvPr/>
        </p:nvSpPr>
        <p:spPr>
          <a:xfrm>
            <a:off x="7000875" y="2675334"/>
            <a:ext cx="1571625" cy="289322"/>
          </a:xfrm>
          <a:prstGeom prst="rect">
            <a:avLst/>
          </a:prstGeom>
          <a:solidFill>
            <a:srgbClr val="0F172A"/>
          </a:solidFill>
          <a:ln w="9144">
            <a:solidFill>
              <a:srgbClr val="EF4444"/>
            </a:solidFill>
            <a:prstDash val="solid"/>
          </a:ln>
        </p:spPr>
      </p:sp>
      <p:sp>
        <p:nvSpPr>
          <p:cNvPr id="38" name="Text 34"/>
          <p:cNvSpPr/>
          <p:nvPr/>
        </p:nvSpPr>
        <p:spPr>
          <a:xfrm>
            <a:off x="7000875" y="2675334"/>
            <a:ext cx="1571625" cy="289322"/>
          </a:xfrm>
          <a:prstGeom prst="rect">
            <a:avLst/>
          </a:prstGeom>
          <a:noFill/>
          <a:ln/>
        </p:spPr>
        <p:txBody>
          <a:bodyPr wrap="square" lIns="85090" tIns="85090" rIns="85090" bIns="85090" rtlCol="0" anchor="t">
            <a:spAutoFit/>
          </a:bodyPr>
          <a:lstStyle/>
          <a:p>
            <a:pPr algn="ctr" indent="0" marL="0">
              <a:buNone/>
            </a:pPr>
            <a:r>
              <a:rPr lang="en-US" sz="750" dirty="0">
                <a:solidFill>
                  <a:srgbClr val="EF4444"/>
                </a:solidFill>
                <a:latin typeface="JetBrains Mono" pitchFamily="34" charset="0"/>
                <a:ea typeface="JetBrains Mono" pitchFamily="34" charset="-122"/>
                <a:cs typeface="JetBrains Mono" pitchFamily="34" charset="-120"/>
              </a:rPr>
              <a:t>Go Operator</a:t>
            </a:r>
            <a:endParaRPr lang="en-US" sz="750" dirty="0"/>
          </a:p>
        </p:txBody>
      </p:sp>
      <p:sp>
        <p:nvSpPr>
          <p:cNvPr id="39" name="Text 35"/>
          <p:cNvSpPr/>
          <p:nvPr/>
        </p:nvSpPr>
        <p:spPr>
          <a:xfrm>
            <a:off x="3621881" y="4132659"/>
            <a:ext cx="1900238" cy="110728"/>
          </a:xfrm>
          <a:prstGeom prst="rect">
            <a:avLst/>
          </a:prstGeom>
          <a:noFill/>
          <a:ln/>
        </p:spPr>
        <p:txBody>
          <a:bodyPr wrap="square" lIns="0" tIns="0" rIns="0" bIns="0" rtlCol="0" anchor="t">
            <a:spAutoFit/>
          </a:bodyPr>
          <a:lstStyle/>
          <a:p>
            <a:pPr algn="l" indent="0" marL="0">
              <a:buNone/>
            </a:pPr>
            <a:r>
              <a:rPr lang="en-US" sz="600" dirty="0">
                <a:solidFill>
                  <a:srgbClr val="94A3B8"/>
                </a:solidFill>
                <a:latin typeface="JetBrains Mono" pitchFamily="34" charset="0"/>
                <a:ea typeface="JetBrains Mono" pitchFamily="34" charset="-122"/>
                <a:cs typeface="JetBrains Mono" pitchFamily="34" charset="-120"/>
              </a:rPr>
              <a:t>CONTINUOUS POLLING &amp; STATE CONVERGENCE</a:t>
            </a:r>
            <a:endParaRPr lang="en-US" sz="600" dirty="0"/>
          </a:p>
        </p:txBody>
      </p:sp>
      <p:sp>
        <p:nvSpPr>
          <p:cNvPr id="40" name="Shape 36"/>
          <p:cNvSpPr/>
          <p:nvPr/>
        </p:nvSpPr>
        <p:spPr>
          <a:xfrm>
            <a:off x="0" y="4857750"/>
            <a:ext cx="9144000" cy="285750"/>
          </a:xfrm>
          <a:prstGeom prst="rect">
            <a:avLst/>
          </a:prstGeom>
          <a:solidFill>
            <a:srgbClr val="000000">
              <a:alpha val="0"/>
            </a:srgbClr>
          </a:solidFill>
          <a:ln/>
        </p:spPr>
      </p:sp>
      <p:sp>
        <p:nvSpPr>
          <p:cNvPr id="41" name="Shape 37"/>
          <p:cNvSpPr/>
          <p:nvPr/>
        </p:nvSpPr>
        <p:spPr>
          <a:xfrm>
            <a:off x="0" y="4857750"/>
            <a:ext cx="9144000" cy="7144"/>
          </a:xfrm>
          <a:prstGeom prst="rect">
            <a:avLst/>
          </a:prstGeom>
          <a:solidFill>
            <a:srgbClr val="334155"/>
          </a:solidFill>
          <a:ln/>
        </p:spPr>
      </p:sp>
      <p:sp>
        <p:nvSpPr>
          <p:cNvPr id="42" name="Text 38"/>
          <p:cNvSpPr/>
          <p:nvPr/>
        </p:nvSpPr>
        <p:spPr>
          <a:xfrm>
            <a:off x="285750" y="4934545"/>
            <a:ext cx="1639491" cy="132159"/>
          </a:xfrm>
          <a:prstGeom prst="rect">
            <a:avLst/>
          </a:prstGeom>
          <a:noFill/>
          <a:ln/>
        </p:spPr>
        <p:txBody>
          <a:bodyPr wrap="square" lIns="0" tIns="0" rIns="0" bIns="0" rtlCol="0" anchor="t">
            <a:spAutoFit/>
          </a:bodyPr>
          <a:lstStyle/>
          <a:p>
            <a:pPr algn="l" indent="0" marL="0">
              <a:buNone/>
            </a:pPr>
            <a:r>
              <a:rPr lang="en-US" sz="750" dirty="0">
                <a:solidFill>
                  <a:srgbClr val="94A3B8"/>
                </a:solidFill>
                <a:latin typeface="JetBrains Mono" pitchFamily="34" charset="0"/>
                <a:ea typeface="JetBrains Mono" pitchFamily="34" charset="-122"/>
                <a:cs typeface="JetBrains Mono" pitchFamily="34" charset="-120"/>
              </a:rPr>
              <a:t>K8S-AUTO-HEAL // EVALUATION</a:t>
            </a:r>
            <a:endParaRPr lang="en-US" sz="750" dirty="0"/>
          </a:p>
        </p:txBody>
      </p:sp>
      <p:sp>
        <p:nvSpPr>
          <p:cNvPr id="43" name="Text 39"/>
          <p:cNvSpPr/>
          <p:nvPr/>
        </p:nvSpPr>
        <p:spPr>
          <a:xfrm>
            <a:off x="8736806" y="4934545"/>
            <a:ext cx="121444" cy="132159"/>
          </a:xfrm>
          <a:prstGeom prst="rect">
            <a:avLst/>
          </a:prstGeom>
          <a:noFill/>
          <a:ln/>
        </p:spPr>
        <p:txBody>
          <a:bodyPr wrap="none" lIns="0" tIns="0" rIns="0" bIns="0" rtlCol="0" anchor="t">
            <a:spAutoFit/>
          </a:bodyPr>
          <a:lstStyle/>
          <a:p>
            <a:pPr algn="l" indent="0" marL="0">
              <a:buNone/>
            </a:pPr>
            <a:r>
              <a:rPr lang="en-US" sz="750" dirty="0">
                <a:solidFill>
                  <a:srgbClr val="94A3B8"/>
                </a:solidFill>
                <a:latin typeface="JetBrains Mono" pitchFamily="34" charset="0"/>
                <a:ea typeface="JetBrains Mono" pitchFamily="34" charset="-122"/>
                <a:cs typeface="JetBrains Mono" pitchFamily="34" charset="-120"/>
              </a:rPr>
              <a:t>02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85750" y="285750"/>
            <a:ext cx="8572500" cy="642938"/>
          </a:xfrm>
          <a:prstGeom prst="rect">
            <a:avLst/>
          </a:prstGeom>
          <a:solidFill>
            <a:srgbClr val="000000">
              <a:alpha val="0"/>
            </a:srgbClr>
          </a:solidFill>
          <a:ln/>
        </p:spPr>
      </p:sp>
      <p:sp>
        <p:nvSpPr>
          <p:cNvPr id="5" name="Shape 1"/>
          <p:cNvSpPr/>
          <p:nvPr/>
        </p:nvSpPr>
        <p:spPr>
          <a:xfrm>
            <a:off x="285750" y="285750"/>
            <a:ext cx="28575" cy="642938"/>
          </a:xfrm>
          <a:prstGeom prst="rect">
            <a:avLst/>
          </a:prstGeom>
          <a:solidFill>
            <a:srgbClr val="06B6D4"/>
          </a:solidFill>
          <a:ln/>
        </p:spPr>
      </p:sp>
      <p:sp>
        <p:nvSpPr>
          <p:cNvPr id="6" name="Text 2"/>
          <p:cNvSpPr/>
          <p:nvPr/>
        </p:nvSpPr>
        <p:spPr>
          <a:xfrm>
            <a:off x="428625" y="285750"/>
            <a:ext cx="8429625" cy="414338"/>
          </a:xfrm>
          <a:prstGeom prst="rect">
            <a:avLst/>
          </a:prstGeom>
          <a:noFill/>
          <a:ln/>
        </p:spPr>
        <p:txBody>
          <a:bodyPr wrap="square" lIns="0" tIns="0" rIns="0" bIns="0" rtlCol="0" anchor="t">
            <a:spAutoFit/>
          </a:bodyPr>
          <a:lstStyle/>
          <a:p>
            <a:pPr algn="l" indent="0" marL="0">
              <a:buNone/>
            </a:pPr>
            <a:r>
              <a:rPr lang="en-US" sz="2450" b="1" spc="-1" kern="0" dirty="0">
                <a:solidFill>
                  <a:srgbClr val="F8FAFC"/>
                </a:solidFill>
                <a:latin typeface="Inter Bold" pitchFamily="34" charset="0"/>
                <a:ea typeface="Inter Bold" pitchFamily="34" charset="-122"/>
                <a:cs typeface="Inter Bold" pitchFamily="34" charset="-120"/>
              </a:rPr>
              <a:t>What We Built, Fixed &amp; Evaluated</a:t>
            </a:r>
            <a:endParaRPr lang="en-US" sz="2450" dirty="0"/>
          </a:p>
        </p:txBody>
      </p:sp>
      <p:sp>
        <p:nvSpPr>
          <p:cNvPr id="7" name="Text 3"/>
          <p:cNvSpPr/>
          <p:nvPr/>
        </p:nvSpPr>
        <p:spPr>
          <a:xfrm>
            <a:off x="428625" y="757238"/>
            <a:ext cx="8429625" cy="171450"/>
          </a:xfrm>
          <a:prstGeom prst="rect">
            <a:avLst/>
          </a:prstGeom>
          <a:noFill/>
          <a:ln/>
        </p:spPr>
        <p:txBody>
          <a:bodyPr wrap="square" lIns="0" tIns="0" rIns="0" bIns="0" rtlCol="0" anchor="t">
            <a:spAutoFit/>
          </a:bodyPr>
          <a:lstStyle/>
          <a:p>
            <a:pPr algn="l" indent="0" marL="0">
              <a:buNone/>
            </a:pPr>
            <a:r>
              <a:rPr lang="en-US" sz="950" dirty="0">
                <a:solidFill>
                  <a:srgbClr val="06B6D4"/>
                </a:solidFill>
                <a:latin typeface="JetBrains Mono" pitchFamily="34" charset="0"/>
                <a:ea typeface="JetBrains Mono" pitchFamily="34" charset="-122"/>
                <a:cs typeface="JetBrains Mono" pitchFamily="34" charset="-120"/>
              </a:rPr>
              <a:t>EXTENSIONS, CRITICAL ISSUES &amp; CLOSED-LOOP RESULTS</a:t>
            </a:r>
            <a:endParaRPr lang="en-US" sz="950" dirty="0"/>
          </a:p>
        </p:txBody>
      </p:sp>
      <p:sp>
        <p:nvSpPr>
          <p:cNvPr id="8" name="Text 4"/>
          <p:cNvSpPr/>
          <p:nvPr/>
        </p:nvSpPr>
        <p:spPr>
          <a:xfrm>
            <a:off x="285750" y="1128713"/>
            <a:ext cx="3265698" cy="125016"/>
          </a:xfrm>
          <a:prstGeom prst="rect">
            <a:avLst/>
          </a:prstGeom>
          <a:noFill/>
          <a:ln/>
        </p:spPr>
        <p:txBody>
          <a:bodyPr wrap="square" lIns="0" tIns="0" rIns="0" bIns="0" rtlCol="0" anchor="t">
            <a:spAutoFit/>
          </a:bodyPr>
          <a:lstStyle/>
          <a:p>
            <a:pPr algn="l" indent="0" marL="0">
              <a:buNone/>
            </a:pPr>
            <a:r>
              <a:rPr lang="en-US" sz="650" spc="1" kern="0" dirty="0">
                <a:solidFill>
                  <a:srgbClr val="94A3B8"/>
                </a:solidFill>
                <a:latin typeface="JetBrains Mono" pitchFamily="34" charset="0"/>
                <a:ea typeface="JetBrains Mono" pitchFamily="34" charset="-122"/>
                <a:cs typeface="JetBrains Mono" pitchFamily="34" charset="-120"/>
              </a:rPr>
              <a:t>KEY IMPLEMENTATIONS &amp; EXTENSIONS</a:t>
            </a:r>
            <a:endParaRPr lang="en-US" sz="650" dirty="0"/>
          </a:p>
        </p:txBody>
      </p:sp>
      <p:sp>
        <p:nvSpPr>
          <p:cNvPr id="9" name="Shape 5"/>
          <p:cNvSpPr/>
          <p:nvPr/>
        </p:nvSpPr>
        <p:spPr>
          <a:xfrm>
            <a:off x="285750" y="1339453"/>
            <a:ext cx="3265698" cy="620725"/>
          </a:xfrm>
          <a:prstGeom prst="rect">
            <a:avLst/>
          </a:prstGeom>
          <a:solidFill>
            <a:srgbClr val="1E293B"/>
          </a:solidFill>
          <a:ln/>
        </p:spPr>
      </p:sp>
      <p:sp>
        <p:nvSpPr>
          <p:cNvPr id="10" name="Shape 6"/>
          <p:cNvSpPr/>
          <p:nvPr/>
        </p:nvSpPr>
        <p:spPr>
          <a:xfrm>
            <a:off x="285750" y="1339453"/>
            <a:ext cx="3265698" cy="7144"/>
          </a:xfrm>
          <a:prstGeom prst="rect">
            <a:avLst/>
          </a:prstGeom>
          <a:solidFill>
            <a:srgbClr val="334155"/>
          </a:solidFill>
          <a:ln/>
        </p:spPr>
      </p:sp>
      <p:sp>
        <p:nvSpPr>
          <p:cNvPr id="11" name="Shape 7"/>
          <p:cNvSpPr/>
          <p:nvPr/>
        </p:nvSpPr>
        <p:spPr>
          <a:xfrm>
            <a:off x="3544305" y="1339453"/>
            <a:ext cx="7144" cy="620725"/>
          </a:xfrm>
          <a:prstGeom prst="rect">
            <a:avLst/>
          </a:prstGeom>
          <a:solidFill>
            <a:srgbClr val="334155"/>
          </a:solidFill>
          <a:ln/>
        </p:spPr>
      </p:sp>
      <p:sp>
        <p:nvSpPr>
          <p:cNvPr id="12" name="Shape 8"/>
          <p:cNvSpPr/>
          <p:nvPr/>
        </p:nvSpPr>
        <p:spPr>
          <a:xfrm>
            <a:off x="285750" y="1953034"/>
            <a:ext cx="3265698" cy="7144"/>
          </a:xfrm>
          <a:prstGeom prst="rect">
            <a:avLst/>
          </a:prstGeom>
          <a:solidFill>
            <a:srgbClr val="334155"/>
          </a:solidFill>
          <a:ln/>
        </p:spPr>
      </p:sp>
      <p:sp>
        <p:nvSpPr>
          <p:cNvPr id="13" name="Shape 9"/>
          <p:cNvSpPr/>
          <p:nvPr/>
        </p:nvSpPr>
        <p:spPr>
          <a:xfrm>
            <a:off x="285750" y="1339453"/>
            <a:ext cx="28575" cy="620725"/>
          </a:xfrm>
          <a:prstGeom prst="rect">
            <a:avLst/>
          </a:prstGeom>
          <a:solidFill>
            <a:srgbClr val="06B6D4"/>
          </a:solidFill>
          <a:ln/>
        </p:spPr>
      </p:sp>
      <p:sp>
        <p:nvSpPr>
          <p:cNvPr id="14" name="Text 10"/>
          <p:cNvSpPr/>
          <p:nvPr/>
        </p:nvSpPr>
        <p:spPr>
          <a:xfrm>
            <a:off x="392906" y="1432322"/>
            <a:ext cx="3051386" cy="125016"/>
          </a:xfrm>
          <a:prstGeom prst="rect">
            <a:avLst/>
          </a:prstGeom>
          <a:noFill/>
          <a:ln/>
        </p:spPr>
        <p:txBody>
          <a:bodyPr wrap="none" lIns="0" tIns="0" rIns="0" bIns="0" rtlCol="0" anchor="t">
            <a:spAutoFit/>
          </a:bodyPr>
          <a:lstStyle/>
          <a:p>
            <a:pPr algn="l" indent="0" marL="0">
              <a:lnSpc>
                <a:spcPct val="100000"/>
              </a:lnSpc>
              <a:buNone/>
            </a:pPr>
            <a:r>
              <a:rPr lang="en-US" sz="700" b="1" dirty="0">
                <a:solidFill>
                  <a:srgbClr val="06B6D4"/>
                </a:solidFill>
                <a:latin typeface="JetBrains Mono" pitchFamily="34" charset="0"/>
                <a:ea typeface="JetBrains Mono" pitchFamily="34" charset="-122"/>
                <a:cs typeface="JetBrains Mono" pitchFamily="34" charset="-120"/>
              </a:rPr>
              <a:t>Custom Kubernetes Operator</a:t>
            </a:r>
            <a:endParaRPr lang="en-US" sz="700" dirty="0"/>
          </a:p>
        </p:txBody>
      </p:sp>
      <p:sp>
        <p:nvSpPr>
          <p:cNvPr id="15" name="Text 11"/>
          <p:cNvSpPr/>
          <p:nvPr/>
        </p:nvSpPr>
        <p:spPr>
          <a:xfrm>
            <a:off x="392906" y="1593056"/>
            <a:ext cx="3051386" cy="259966"/>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F8FAFC"/>
                </a:solidFill>
                <a:latin typeface="Inter" pitchFamily="34" charset="0"/>
                <a:ea typeface="Inter" pitchFamily="34" charset="-122"/>
                <a:cs typeface="Inter" pitchFamily="34" charset="-120"/>
              </a:rPr>
              <a:t>Go-based controller interacting directly with the Kubernetes API to execute automated remediation logic.</a:t>
            </a:r>
            <a:endParaRPr lang="en-US" sz="650" dirty="0"/>
          </a:p>
        </p:txBody>
      </p:sp>
      <p:sp>
        <p:nvSpPr>
          <p:cNvPr id="16" name="Shape 12"/>
          <p:cNvSpPr/>
          <p:nvPr/>
        </p:nvSpPr>
        <p:spPr>
          <a:xfrm>
            <a:off x="285750" y="2024472"/>
            <a:ext cx="3265698" cy="620725"/>
          </a:xfrm>
          <a:prstGeom prst="rect">
            <a:avLst/>
          </a:prstGeom>
          <a:solidFill>
            <a:srgbClr val="1E293B"/>
          </a:solidFill>
          <a:ln/>
        </p:spPr>
      </p:sp>
      <p:sp>
        <p:nvSpPr>
          <p:cNvPr id="17" name="Shape 13"/>
          <p:cNvSpPr/>
          <p:nvPr/>
        </p:nvSpPr>
        <p:spPr>
          <a:xfrm>
            <a:off x="285750" y="2024472"/>
            <a:ext cx="3265698" cy="7144"/>
          </a:xfrm>
          <a:prstGeom prst="rect">
            <a:avLst/>
          </a:prstGeom>
          <a:solidFill>
            <a:srgbClr val="334155"/>
          </a:solidFill>
          <a:ln/>
        </p:spPr>
      </p:sp>
      <p:sp>
        <p:nvSpPr>
          <p:cNvPr id="18" name="Shape 14"/>
          <p:cNvSpPr/>
          <p:nvPr/>
        </p:nvSpPr>
        <p:spPr>
          <a:xfrm>
            <a:off x="3544305" y="2024472"/>
            <a:ext cx="7144" cy="620725"/>
          </a:xfrm>
          <a:prstGeom prst="rect">
            <a:avLst/>
          </a:prstGeom>
          <a:solidFill>
            <a:srgbClr val="334155"/>
          </a:solidFill>
          <a:ln/>
        </p:spPr>
      </p:sp>
      <p:sp>
        <p:nvSpPr>
          <p:cNvPr id="19" name="Shape 15"/>
          <p:cNvSpPr/>
          <p:nvPr/>
        </p:nvSpPr>
        <p:spPr>
          <a:xfrm>
            <a:off x="285750" y="2638053"/>
            <a:ext cx="3265698" cy="7144"/>
          </a:xfrm>
          <a:prstGeom prst="rect">
            <a:avLst/>
          </a:prstGeom>
          <a:solidFill>
            <a:srgbClr val="334155"/>
          </a:solidFill>
          <a:ln/>
        </p:spPr>
      </p:sp>
      <p:sp>
        <p:nvSpPr>
          <p:cNvPr id="20" name="Shape 16"/>
          <p:cNvSpPr/>
          <p:nvPr/>
        </p:nvSpPr>
        <p:spPr>
          <a:xfrm>
            <a:off x="285750" y="2024472"/>
            <a:ext cx="28575" cy="620725"/>
          </a:xfrm>
          <a:prstGeom prst="rect">
            <a:avLst/>
          </a:prstGeom>
          <a:solidFill>
            <a:srgbClr val="06B6D4"/>
          </a:solidFill>
          <a:ln/>
        </p:spPr>
      </p:sp>
      <p:sp>
        <p:nvSpPr>
          <p:cNvPr id="21" name="Text 17"/>
          <p:cNvSpPr/>
          <p:nvPr/>
        </p:nvSpPr>
        <p:spPr>
          <a:xfrm>
            <a:off x="392906" y="2117341"/>
            <a:ext cx="3051386" cy="125016"/>
          </a:xfrm>
          <a:prstGeom prst="rect">
            <a:avLst/>
          </a:prstGeom>
          <a:noFill/>
          <a:ln/>
        </p:spPr>
        <p:txBody>
          <a:bodyPr wrap="none" lIns="0" tIns="0" rIns="0" bIns="0" rtlCol="0" anchor="t">
            <a:spAutoFit/>
          </a:bodyPr>
          <a:lstStyle/>
          <a:p>
            <a:pPr algn="l" indent="0" marL="0">
              <a:lnSpc>
                <a:spcPct val="100000"/>
              </a:lnSpc>
              <a:buNone/>
            </a:pPr>
            <a:r>
              <a:rPr lang="en-US" sz="700" b="1" dirty="0">
                <a:solidFill>
                  <a:srgbClr val="06B6D4"/>
                </a:solidFill>
                <a:latin typeface="JetBrains Mono" pitchFamily="34" charset="0"/>
                <a:ea typeface="JetBrains Mono" pitchFamily="34" charset="-122"/>
                <a:cs typeface="JetBrains Mono" pitchFamily="34" charset="-120"/>
              </a:rPr>
              <a:t>Active Probing System</a:t>
            </a:r>
            <a:endParaRPr lang="en-US" sz="700" dirty="0"/>
          </a:p>
        </p:txBody>
      </p:sp>
      <p:sp>
        <p:nvSpPr>
          <p:cNvPr id="22" name="Text 18"/>
          <p:cNvSpPr/>
          <p:nvPr/>
        </p:nvSpPr>
        <p:spPr>
          <a:xfrm>
            <a:off x="392906" y="2278075"/>
            <a:ext cx="3051386" cy="259966"/>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F8FAFC"/>
                </a:solidFill>
                <a:latin typeface="Inter" pitchFamily="34" charset="0"/>
                <a:ea typeface="Inter" pitchFamily="34" charset="-122"/>
                <a:cs typeface="Inter" pitchFamily="34" charset="-120"/>
              </a:rPr>
              <a:t>Python exporters, dns-probe and connectivity-probe, continuously validate cluster network health.</a:t>
            </a:r>
            <a:endParaRPr lang="en-US" sz="650" dirty="0"/>
          </a:p>
        </p:txBody>
      </p:sp>
      <p:sp>
        <p:nvSpPr>
          <p:cNvPr id="23" name="Shape 19"/>
          <p:cNvSpPr/>
          <p:nvPr/>
        </p:nvSpPr>
        <p:spPr>
          <a:xfrm>
            <a:off x="285750" y="2709490"/>
            <a:ext cx="3265698" cy="620725"/>
          </a:xfrm>
          <a:prstGeom prst="rect">
            <a:avLst/>
          </a:prstGeom>
          <a:solidFill>
            <a:srgbClr val="1E293B"/>
          </a:solidFill>
          <a:ln/>
        </p:spPr>
      </p:sp>
      <p:sp>
        <p:nvSpPr>
          <p:cNvPr id="24" name="Shape 20"/>
          <p:cNvSpPr/>
          <p:nvPr/>
        </p:nvSpPr>
        <p:spPr>
          <a:xfrm>
            <a:off x="285750" y="2709490"/>
            <a:ext cx="3265698" cy="7144"/>
          </a:xfrm>
          <a:prstGeom prst="rect">
            <a:avLst/>
          </a:prstGeom>
          <a:solidFill>
            <a:srgbClr val="334155"/>
          </a:solidFill>
          <a:ln/>
        </p:spPr>
      </p:sp>
      <p:sp>
        <p:nvSpPr>
          <p:cNvPr id="25" name="Shape 21"/>
          <p:cNvSpPr/>
          <p:nvPr/>
        </p:nvSpPr>
        <p:spPr>
          <a:xfrm>
            <a:off x="3544305" y="2709490"/>
            <a:ext cx="7144" cy="620725"/>
          </a:xfrm>
          <a:prstGeom prst="rect">
            <a:avLst/>
          </a:prstGeom>
          <a:solidFill>
            <a:srgbClr val="334155"/>
          </a:solidFill>
          <a:ln/>
        </p:spPr>
      </p:sp>
      <p:sp>
        <p:nvSpPr>
          <p:cNvPr id="26" name="Shape 22"/>
          <p:cNvSpPr/>
          <p:nvPr/>
        </p:nvSpPr>
        <p:spPr>
          <a:xfrm>
            <a:off x="285750" y="3323072"/>
            <a:ext cx="3265698" cy="7144"/>
          </a:xfrm>
          <a:prstGeom prst="rect">
            <a:avLst/>
          </a:prstGeom>
          <a:solidFill>
            <a:srgbClr val="334155"/>
          </a:solidFill>
          <a:ln/>
        </p:spPr>
      </p:sp>
      <p:sp>
        <p:nvSpPr>
          <p:cNvPr id="27" name="Shape 23"/>
          <p:cNvSpPr/>
          <p:nvPr/>
        </p:nvSpPr>
        <p:spPr>
          <a:xfrm>
            <a:off x="285750" y="2709490"/>
            <a:ext cx="28575" cy="620725"/>
          </a:xfrm>
          <a:prstGeom prst="rect">
            <a:avLst/>
          </a:prstGeom>
          <a:solidFill>
            <a:srgbClr val="06B6D4"/>
          </a:solidFill>
          <a:ln/>
        </p:spPr>
      </p:sp>
      <p:sp>
        <p:nvSpPr>
          <p:cNvPr id="28" name="Text 24"/>
          <p:cNvSpPr/>
          <p:nvPr/>
        </p:nvSpPr>
        <p:spPr>
          <a:xfrm>
            <a:off x="392906" y="2802359"/>
            <a:ext cx="3051386" cy="125016"/>
          </a:xfrm>
          <a:prstGeom prst="rect">
            <a:avLst/>
          </a:prstGeom>
          <a:noFill/>
          <a:ln/>
        </p:spPr>
        <p:txBody>
          <a:bodyPr wrap="none" lIns="0" tIns="0" rIns="0" bIns="0" rtlCol="0" anchor="t">
            <a:spAutoFit/>
          </a:bodyPr>
          <a:lstStyle/>
          <a:p>
            <a:pPr algn="l" indent="0" marL="0">
              <a:lnSpc>
                <a:spcPct val="100000"/>
              </a:lnSpc>
              <a:buNone/>
            </a:pPr>
            <a:r>
              <a:rPr lang="en-US" sz="700" b="1" dirty="0">
                <a:solidFill>
                  <a:srgbClr val="06B6D4"/>
                </a:solidFill>
                <a:latin typeface="JetBrains Mono" pitchFamily="34" charset="0"/>
                <a:ea typeface="JetBrains Mono" pitchFamily="34" charset="-122"/>
                <a:cs typeface="JetBrains Mono" pitchFamily="34" charset="-120"/>
              </a:rPr>
              <a:t>Chaos Engineering Framework</a:t>
            </a:r>
            <a:endParaRPr lang="en-US" sz="700" dirty="0"/>
          </a:p>
        </p:txBody>
      </p:sp>
      <p:sp>
        <p:nvSpPr>
          <p:cNvPr id="29" name="Text 25"/>
          <p:cNvSpPr/>
          <p:nvPr/>
        </p:nvSpPr>
        <p:spPr>
          <a:xfrm>
            <a:off x="392906" y="2963094"/>
            <a:ext cx="3051386" cy="259966"/>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F8FAFC"/>
                </a:solidFill>
                <a:latin typeface="Inter" pitchFamily="34" charset="0"/>
                <a:ea typeface="Inter" pitchFamily="34" charset="-122"/>
                <a:cs typeface="Inter" pitchFamily="34" charset="-120"/>
              </a:rPr>
              <a:t>Fault-injection pipeline simulates CNI crashes, blocking NetworkPolicies, and DNS death.</a:t>
            </a:r>
            <a:endParaRPr lang="en-US" sz="650" dirty="0"/>
          </a:p>
        </p:txBody>
      </p:sp>
      <p:sp>
        <p:nvSpPr>
          <p:cNvPr id="30" name="Shape 26"/>
          <p:cNvSpPr/>
          <p:nvPr/>
        </p:nvSpPr>
        <p:spPr>
          <a:xfrm>
            <a:off x="285750" y="3394509"/>
            <a:ext cx="3265698" cy="620725"/>
          </a:xfrm>
          <a:prstGeom prst="rect">
            <a:avLst/>
          </a:prstGeom>
          <a:solidFill>
            <a:srgbClr val="1E293B"/>
          </a:solidFill>
          <a:ln/>
        </p:spPr>
      </p:sp>
      <p:sp>
        <p:nvSpPr>
          <p:cNvPr id="31" name="Shape 27"/>
          <p:cNvSpPr/>
          <p:nvPr/>
        </p:nvSpPr>
        <p:spPr>
          <a:xfrm>
            <a:off x="285750" y="3394509"/>
            <a:ext cx="3265698" cy="7144"/>
          </a:xfrm>
          <a:prstGeom prst="rect">
            <a:avLst/>
          </a:prstGeom>
          <a:solidFill>
            <a:srgbClr val="334155"/>
          </a:solidFill>
          <a:ln/>
        </p:spPr>
      </p:sp>
      <p:sp>
        <p:nvSpPr>
          <p:cNvPr id="32" name="Shape 28"/>
          <p:cNvSpPr/>
          <p:nvPr/>
        </p:nvSpPr>
        <p:spPr>
          <a:xfrm>
            <a:off x="3544305" y="3394509"/>
            <a:ext cx="7144" cy="620725"/>
          </a:xfrm>
          <a:prstGeom prst="rect">
            <a:avLst/>
          </a:prstGeom>
          <a:solidFill>
            <a:srgbClr val="334155"/>
          </a:solidFill>
          <a:ln/>
        </p:spPr>
      </p:sp>
      <p:sp>
        <p:nvSpPr>
          <p:cNvPr id="33" name="Shape 29"/>
          <p:cNvSpPr/>
          <p:nvPr/>
        </p:nvSpPr>
        <p:spPr>
          <a:xfrm>
            <a:off x="285750" y="4008090"/>
            <a:ext cx="3265698" cy="7144"/>
          </a:xfrm>
          <a:prstGeom prst="rect">
            <a:avLst/>
          </a:prstGeom>
          <a:solidFill>
            <a:srgbClr val="334155"/>
          </a:solidFill>
          <a:ln/>
        </p:spPr>
      </p:sp>
      <p:sp>
        <p:nvSpPr>
          <p:cNvPr id="34" name="Shape 30"/>
          <p:cNvSpPr/>
          <p:nvPr/>
        </p:nvSpPr>
        <p:spPr>
          <a:xfrm>
            <a:off x="285750" y="3394509"/>
            <a:ext cx="28575" cy="620725"/>
          </a:xfrm>
          <a:prstGeom prst="rect">
            <a:avLst/>
          </a:prstGeom>
          <a:solidFill>
            <a:srgbClr val="06B6D4"/>
          </a:solidFill>
          <a:ln/>
        </p:spPr>
      </p:sp>
      <p:sp>
        <p:nvSpPr>
          <p:cNvPr id="35" name="Text 31"/>
          <p:cNvSpPr/>
          <p:nvPr/>
        </p:nvSpPr>
        <p:spPr>
          <a:xfrm>
            <a:off x="392906" y="3487378"/>
            <a:ext cx="3051386" cy="125016"/>
          </a:xfrm>
          <a:prstGeom prst="rect">
            <a:avLst/>
          </a:prstGeom>
          <a:noFill/>
          <a:ln/>
        </p:spPr>
        <p:txBody>
          <a:bodyPr wrap="none" lIns="0" tIns="0" rIns="0" bIns="0" rtlCol="0" anchor="t">
            <a:spAutoFit/>
          </a:bodyPr>
          <a:lstStyle/>
          <a:p>
            <a:pPr algn="l" indent="0" marL="0">
              <a:lnSpc>
                <a:spcPct val="100000"/>
              </a:lnSpc>
              <a:buNone/>
            </a:pPr>
            <a:r>
              <a:rPr lang="en-US" sz="700" b="1" dirty="0">
                <a:solidFill>
                  <a:srgbClr val="06B6D4"/>
                </a:solidFill>
                <a:latin typeface="JetBrains Mono" pitchFamily="34" charset="0"/>
                <a:ea typeface="JetBrains Mono" pitchFamily="34" charset="-122"/>
                <a:cs typeface="JetBrains Mono" pitchFamily="34" charset="-120"/>
              </a:rPr>
              <a:t>Observability Pipeline</a:t>
            </a:r>
            <a:endParaRPr lang="en-US" sz="700" dirty="0"/>
          </a:p>
        </p:txBody>
      </p:sp>
      <p:sp>
        <p:nvSpPr>
          <p:cNvPr id="36" name="Text 32"/>
          <p:cNvSpPr/>
          <p:nvPr/>
        </p:nvSpPr>
        <p:spPr>
          <a:xfrm>
            <a:off x="392906" y="3648112"/>
            <a:ext cx="3051386" cy="259966"/>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F8FAFC"/>
                </a:solidFill>
                <a:latin typeface="Inter" pitchFamily="34" charset="0"/>
                <a:ea typeface="Inter" pitchFamily="34" charset="-122"/>
                <a:cs typeface="Inter" pitchFamily="34" charset="-120"/>
              </a:rPr>
              <a:t>Prometheus, Alertmanager, and Grafana tuned for network self-healing visualization.</a:t>
            </a:r>
            <a:endParaRPr lang="en-US" sz="650" dirty="0"/>
          </a:p>
        </p:txBody>
      </p:sp>
      <p:sp>
        <p:nvSpPr>
          <p:cNvPr id="37" name="Text 33"/>
          <p:cNvSpPr/>
          <p:nvPr/>
        </p:nvSpPr>
        <p:spPr>
          <a:xfrm>
            <a:off x="3722898" y="1128713"/>
            <a:ext cx="2612548" cy="125016"/>
          </a:xfrm>
          <a:prstGeom prst="rect">
            <a:avLst/>
          </a:prstGeom>
          <a:noFill/>
          <a:ln/>
        </p:spPr>
        <p:txBody>
          <a:bodyPr wrap="square" lIns="0" tIns="0" rIns="0" bIns="0" rtlCol="0" anchor="t">
            <a:spAutoFit/>
          </a:bodyPr>
          <a:lstStyle/>
          <a:p>
            <a:pPr algn="l" indent="0" marL="0">
              <a:buNone/>
            </a:pPr>
            <a:r>
              <a:rPr lang="en-US" sz="650" spc="1" kern="0" dirty="0">
                <a:solidFill>
                  <a:srgbClr val="94A3B8"/>
                </a:solidFill>
                <a:latin typeface="JetBrains Mono" pitchFamily="34" charset="0"/>
                <a:ea typeface="JetBrains Mono" pitchFamily="34" charset="-122"/>
                <a:cs typeface="JetBrains Mono" pitchFamily="34" charset="-120"/>
              </a:rPr>
              <a:t>CRITICAL ISSUES FIXED</a:t>
            </a:r>
            <a:endParaRPr lang="en-US" sz="650" dirty="0"/>
          </a:p>
        </p:txBody>
      </p:sp>
      <p:sp>
        <p:nvSpPr>
          <p:cNvPr id="38" name="Shape 34"/>
          <p:cNvSpPr/>
          <p:nvPr/>
        </p:nvSpPr>
        <p:spPr>
          <a:xfrm>
            <a:off x="3722898" y="1339453"/>
            <a:ext cx="2612548" cy="750708"/>
          </a:xfrm>
          <a:prstGeom prst="rect">
            <a:avLst/>
          </a:prstGeom>
          <a:solidFill>
            <a:srgbClr val="1E293B"/>
          </a:solidFill>
          <a:ln/>
        </p:spPr>
      </p:sp>
      <p:sp>
        <p:nvSpPr>
          <p:cNvPr id="39" name="Shape 35"/>
          <p:cNvSpPr/>
          <p:nvPr/>
        </p:nvSpPr>
        <p:spPr>
          <a:xfrm>
            <a:off x="3722898" y="1339453"/>
            <a:ext cx="2612548" cy="7144"/>
          </a:xfrm>
          <a:prstGeom prst="rect">
            <a:avLst/>
          </a:prstGeom>
          <a:solidFill>
            <a:srgbClr val="334155"/>
          </a:solidFill>
          <a:ln/>
        </p:spPr>
      </p:sp>
      <p:sp>
        <p:nvSpPr>
          <p:cNvPr id="40" name="Shape 36"/>
          <p:cNvSpPr/>
          <p:nvPr/>
        </p:nvSpPr>
        <p:spPr>
          <a:xfrm>
            <a:off x="6328302" y="1339453"/>
            <a:ext cx="7144" cy="750708"/>
          </a:xfrm>
          <a:prstGeom prst="rect">
            <a:avLst/>
          </a:prstGeom>
          <a:solidFill>
            <a:srgbClr val="334155"/>
          </a:solidFill>
          <a:ln/>
        </p:spPr>
      </p:sp>
      <p:sp>
        <p:nvSpPr>
          <p:cNvPr id="41" name="Shape 37"/>
          <p:cNvSpPr/>
          <p:nvPr/>
        </p:nvSpPr>
        <p:spPr>
          <a:xfrm>
            <a:off x="3722898" y="2083017"/>
            <a:ext cx="2612548" cy="7144"/>
          </a:xfrm>
          <a:prstGeom prst="rect">
            <a:avLst/>
          </a:prstGeom>
          <a:solidFill>
            <a:srgbClr val="334155"/>
          </a:solidFill>
          <a:ln/>
        </p:spPr>
      </p:sp>
      <p:sp>
        <p:nvSpPr>
          <p:cNvPr id="42" name="Shape 38"/>
          <p:cNvSpPr/>
          <p:nvPr/>
        </p:nvSpPr>
        <p:spPr>
          <a:xfrm>
            <a:off x="3722898" y="1339453"/>
            <a:ext cx="28575" cy="750708"/>
          </a:xfrm>
          <a:prstGeom prst="rect">
            <a:avLst/>
          </a:prstGeom>
          <a:solidFill>
            <a:srgbClr val="F59E0B"/>
          </a:solidFill>
          <a:ln/>
        </p:spPr>
      </p:sp>
      <p:sp>
        <p:nvSpPr>
          <p:cNvPr id="43" name="Text 39"/>
          <p:cNvSpPr/>
          <p:nvPr/>
        </p:nvSpPr>
        <p:spPr>
          <a:xfrm>
            <a:off x="3830055" y="1432322"/>
            <a:ext cx="2398235" cy="125016"/>
          </a:xfrm>
          <a:prstGeom prst="rect">
            <a:avLst/>
          </a:prstGeom>
          <a:noFill/>
          <a:ln/>
        </p:spPr>
        <p:txBody>
          <a:bodyPr wrap="none" lIns="0" tIns="0" rIns="0" bIns="0" rtlCol="0" anchor="t">
            <a:spAutoFit/>
          </a:bodyPr>
          <a:lstStyle/>
          <a:p>
            <a:pPr algn="l" indent="0" marL="0">
              <a:lnSpc>
                <a:spcPct val="100000"/>
              </a:lnSpc>
              <a:buNone/>
            </a:pPr>
            <a:r>
              <a:rPr lang="en-US" sz="700" b="1" dirty="0">
                <a:solidFill>
                  <a:srgbClr val="F59E0B"/>
                </a:solidFill>
                <a:latin typeface="JetBrains Mono" pitchFamily="34" charset="0"/>
                <a:ea typeface="JetBrains Mono" pitchFamily="34" charset="-122"/>
                <a:cs typeface="JetBrains Mono" pitchFamily="34" charset="-120"/>
              </a:rPr>
              <a:t>Network Policy Additivity</a:t>
            </a:r>
            <a:endParaRPr lang="en-US" sz="700" dirty="0"/>
          </a:p>
        </p:txBody>
      </p:sp>
      <p:sp>
        <p:nvSpPr>
          <p:cNvPr id="44" name="Text 40"/>
          <p:cNvSpPr/>
          <p:nvPr/>
        </p:nvSpPr>
        <p:spPr>
          <a:xfrm>
            <a:off x="3830055" y="1593056"/>
            <a:ext cx="2398235" cy="389948"/>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F8FAFC"/>
                </a:solidFill>
                <a:latin typeface="Inter" pitchFamily="34" charset="0"/>
                <a:ea typeface="Inter" pitchFamily="34" charset="-122"/>
                <a:cs typeface="Inter" pitchFamily="34" charset="-120"/>
              </a:rPr>
              <a:t>Operator strips conflicting baseline “allow” rules before applying targeted fixes, solving additive policy stacking.</a:t>
            </a:r>
            <a:endParaRPr lang="en-US" sz="650" dirty="0"/>
          </a:p>
        </p:txBody>
      </p:sp>
      <p:sp>
        <p:nvSpPr>
          <p:cNvPr id="45" name="Shape 41"/>
          <p:cNvSpPr/>
          <p:nvPr/>
        </p:nvSpPr>
        <p:spPr>
          <a:xfrm>
            <a:off x="3722898" y="2154455"/>
            <a:ext cx="2612548" cy="750708"/>
          </a:xfrm>
          <a:prstGeom prst="rect">
            <a:avLst/>
          </a:prstGeom>
          <a:solidFill>
            <a:srgbClr val="1E293B"/>
          </a:solidFill>
          <a:ln/>
        </p:spPr>
      </p:sp>
      <p:sp>
        <p:nvSpPr>
          <p:cNvPr id="46" name="Shape 42"/>
          <p:cNvSpPr/>
          <p:nvPr/>
        </p:nvSpPr>
        <p:spPr>
          <a:xfrm>
            <a:off x="3722898" y="2154455"/>
            <a:ext cx="2612548" cy="7144"/>
          </a:xfrm>
          <a:prstGeom prst="rect">
            <a:avLst/>
          </a:prstGeom>
          <a:solidFill>
            <a:srgbClr val="334155"/>
          </a:solidFill>
          <a:ln/>
        </p:spPr>
      </p:sp>
      <p:sp>
        <p:nvSpPr>
          <p:cNvPr id="47" name="Shape 43"/>
          <p:cNvSpPr/>
          <p:nvPr/>
        </p:nvSpPr>
        <p:spPr>
          <a:xfrm>
            <a:off x="6328302" y="2154455"/>
            <a:ext cx="7144" cy="750708"/>
          </a:xfrm>
          <a:prstGeom prst="rect">
            <a:avLst/>
          </a:prstGeom>
          <a:solidFill>
            <a:srgbClr val="334155"/>
          </a:solidFill>
          <a:ln/>
        </p:spPr>
      </p:sp>
      <p:sp>
        <p:nvSpPr>
          <p:cNvPr id="48" name="Shape 44"/>
          <p:cNvSpPr/>
          <p:nvPr/>
        </p:nvSpPr>
        <p:spPr>
          <a:xfrm>
            <a:off x="3722898" y="2898018"/>
            <a:ext cx="2612548" cy="7144"/>
          </a:xfrm>
          <a:prstGeom prst="rect">
            <a:avLst/>
          </a:prstGeom>
          <a:solidFill>
            <a:srgbClr val="334155"/>
          </a:solidFill>
          <a:ln/>
        </p:spPr>
      </p:sp>
      <p:sp>
        <p:nvSpPr>
          <p:cNvPr id="49" name="Shape 45"/>
          <p:cNvSpPr/>
          <p:nvPr/>
        </p:nvSpPr>
        <p:spPr>
          <a:xfrm>
            <a:off x="3722898" y="2154455"/>
            <a:ext cx="28575" cy="750708"/>
          </a:xfrm>
          <a:prstGeom prst="rect">
            <a:avLst/>
          </a:prstGeom>
          <a:solidFill>
            <a:srgbClr val="F59E0B"/>
          </a:solidFill>
          <a:ln/>
        </p:spPr>
      </p:sp>
      <p:sp>
        <p:nvSpPr>
          <p:cNvPr id="50" name="Text 46"/>
          <p:cNvSpPr/>
          <p:nvPr/>
        </p:nvSpPr>
        <p:spPr>
          <a:xfrm>
            <a:off x="3830055" y="2247323"/>
            <a:ext cx="2398235" cy="125016"/>
          </a:xfrm>
          <a:prstGeom prst="rect">
            <a:avLst/>
          </a:prstGeom>
          <a:noFill/>
          <a:ln/>
        </p:spPr>
        <p:txBody>
          <a:bodyPr wrap="none" lIns="0" tIns="0" rIns="0" bIns="0" rtlCol="0" anchor="t">
            <a:spAutoFit/>
          </a:bodyPr>
          <a:lstStyle/>
          <a:p>
            <a:pPr algn="l" indent="0" marL="0">
              <a:lnSpc>
                <a:spcPct val="100000"/>
              </a:lnSpc>
              <a:buNone/>
            </a:pPr>
            <a:r>
              <a:rPr lang="en-US" sz="700" b="1" dirty="0">
                <a:solidFill>
                  <a:srgbClr val="F59E0B"/>
                </a:solidFill>
                <a:latin typeface="JetBrains Mono" pitchFamily="34" charset="0"/>
                <a:ea typeface="JetBrains Mono" pitchFamily="34" charset="-122"/>
                <a:cs typeface="JetBrains Mono" pitchFamily="34" charset="-120"/>
              </a:rPr>
              <a:t>Metric Tracking Accuracy</a:t>
            </a:r>
            <a:endParaRPr lang="en-US" sz="700" dirty="0"/>
          </a:p>
        </p:txBody>
      </p:sp>
      <p:sp>
        <p:nvSpPr>
          <p:cNvPr id="51" name="Text 47"/>
          <p:cNvSpPr/>
          <p:nvPr/>
        </p:nvSpPr>
        <p:spPr>
          <a:xfrm>
            <a:off x="3830055" y="2408058"/>
            <a:ext cx="2398235" cy="259966"/>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F8FAFC"/>
                </a:solidFill>
                <a:latin typeface="Inter" pitchFamily="34" charset="0"/>
                <a:ea typeface="Inter" pitchFamily="34" charset="-122"/>
                <a:cs typeface="Inter" pitchFamily="34" charset="-120"/>
              </a:rPr>
              <a:t>Using </a:t>
            </a:r>
            <a:r>
              <a:rPr lang="en-US" sz="650" dirty="0">
                <a:solidFill>
                  <a:srgbClr val="F59E0B"/>
                </a:solidFill>
                <a:latin typeface="JetBrains Mono" pitchFamily="34" charset="0"/>
                <a:ea typeface="JetBrains Mono" pitchFamily="34" charset="-122"/>
                <a:cs typeface="JetBrains Mono" pitchFamily="34" charset="-120"/>
              </a:rPr>
              <a:t>kill 1</a:t>
            </a:r>
            <a:r>
              <a:rPr lang="en-US" sz="650" dirty="0">
                <a:solidFill>
                  <a:srgbClr val="F8FAFC"/>
                </a:solidFill>
                <a:latin typeface="Inter" pitchFamily="34" charset="0"/>
                <a:ea typeface="Inter" pitchFamily="34" charset="-122"/>
                <a:cs typeface="Inter" pitchFamily="34" charset="-120"/>
              </a:rPr>
              <a:t> inside containers simulates true </a:t>
            </a:r>
            <a:r>
              <a:rPr lang="en-US" sz="650" dirty="0">
                <a:solidFill>
                  <a:srgbClr val="F8FAFC"/>
                </a:solidFill>
                <a:latin typeface="Inter" pitchFamily="34" charset="0"/>
                <a:ea typeface="Inter" pitchFamily="34" charset="-122"/>
                <a:cs typeface="Inter" pitchFamily="34" charset="-120"/>
              </a:rPr>
              <a:t>runtime crashes for accurate Kube-State-Metrics </a:t>
            </a:r>
            <a:r>
              <a:rPr lang="en-US" sz="650" dirty="0">
                <a:solidFill>
                  <a:srgbClr val="F8FAFC"/>
                </a:solidFill>
                <a:latin typeface="Inter" pitchFamily="34" charset="0"/>
                <a:ea typeface="Inter" pitchFamily="34" charset="-122"/>
                <a:cs typeface="Inter" pitchFamily="34" charset="-120"/>
              </a:rPr>
              <a:t>tracking.</a:t>
            </a:r>
            <a:endParaRPr lang="en-US" sz="650" dirty="0"/>
          </a:p>
        </p:txBody>
      </p:sp>
      <p:sp>
        <p:nvSpPr>
          <p:cNvPr id="52" name="Text 48"/>
          <p:cNvSpPr/>
          <p:nvPr/>
        </p:nvSpPr>
        <p:spPr>
          <a:xfrm>
            <a:off x="6506896" y="1128713"/>
            <a:ext cx="2351298" cy="125016"/>
          </a:xfrm>
          <a:prstGeom prst="rect">
            <a:avLst/>
          </a:prstGeom>
          <a:noFill/>
          <a:ln/>
        </p:spPr>
        <p:txBody>
          <a:bodyPr wrap="square" lIns="0" tIns="0" rIns="0" bIns="0" rtlCol="0" anchor="t">
            <a:spAutoFit/>
          </a:bodyPr>
          <a:lstStyle/>
          <a:p>
            <a:pPr algn="l" indent="0" marL="0">
              <a:buNone/>
            </a:pPr>
            <a:r>
              <a:rPr lang="en-US" sz="650" spc="1" kern="0" dirty="0">
                <a:solidFill>
                  <a:srgbClr val="94A3B8"/>
                </a:solidFill>
                <a:latin typeface="JetBrains Mono" pitchFamily="34" charset="0"/>
                <a:ea typeface="JetBrains Mono" pitchFamily="34" charset="-122"/>
                <a:cs typeface="JetBrains Mono" pitchFamily="34" charset="-120"/>
              </a:rPr>
              <a:t>EVALUATION &amp; RESULTS</a:t>
            </a:r>
            <a:endParaRPr lang="en-US" sz="650" dirty="0"/>
          </a:p>
        </p:txBody>
      </p:sp>
      <p:sp>
        <p:nvSpPr>
          <p:cNvPr id="53" name="Shape 49"/>
          <p:cNvSpPr/>
          <p:nvPr/>
        </p:nvSpPr>
        <p:spPr>
          <a:xfrm>
            <a:off x="6506896" y="1339453"/>
            <a:ext cx="2351298" cy="2485579"/>
          </a:xfrm>
          <a:prstGeom prst="rect">
            <a:avLst/>
          </a:prstGeom>
          <a:solidFill>
            <a:srgbClr val="1E293B"/>
          </a:solidFill>
          <a:ln w="9144">
            <a:solidFill>
              <a:srgbClr val="334155"/>
            </a:solidFill>
            <a:prstDash val="solid"/>
          </a:ln>
        </p:spPr>
      </p:sp>
      <p:sp>
        <p:nvSpPr>
          <p:cNvPr id="54" name="Shape 50"/>
          <p:cNvSpPr/>
          <p:nvPr/>
        </p:nvSpPr>
        <p:spPr>
          <a:xfrm>
            <a:off x="6649771" y="1495890"/>
            <a:ext cx="214313" cy="214313"/>
          </a:xfrm>
          <a:prstGeom prst="rect">
            <a:avLst/>
          </a:prstGeom>
          <a:solidFill>
            <a:srgbClr val="EF4444"/>
          </a:solidFill>
          <a:ln/>
        </p:spPr>
      </p:sp>
      <p:sp>
        <p:nvSpPr>
          <p:cNvPr id="55" name="Text 51"/>
          <p:cNvSpPr/>
          <p:nvPr/>
        </p:nvSpPr>
        <p:spPr>
          <a:xfrm>
            <a:off x="6649771" y="1495890"/>
            <a:ext cx="214313" cy="214313"/>
          </a:xfrm>
          <a:prstGeom prst="rect">
            <a:avLst/>
          </a:prstGeom>
          <a:noFill/>
          <a:ln/>
        </p:spPr>
        <p:txBody>
          <a:bodyPr wrap="none" lIns="0" tIns="0" rIns="0" bIns="0" rtlCol="0" anchor="ctr">
            <a:spAutoFit/>
          </a:bodyPr>
          <a:lstStyle/>
          <a:p>
            <a:pPr algn="ctr" indent="0" marL="0">
              <a:buNone/>
            </a:pPr>
            <a:r>
              <a:rPr lang="en-US" sz="600" b="1" dirty="0">
                <a:solidFill>
                  <a:srgbClr val="0F172A"/>
                </a:solidFill>
                <a:latin typeface="JetBrains Mono" pitchFamily="34" charset="0"/>
                <a:ea typeface="JetBrains Mono" pitchFamily="34" charset="-122"/>
                <a:cs typeface="JetBrains Mono" pitchFamily="34" charset="-120"/>
              </a:rPr>
              <a:t>01</a:t>
            </a:r>
            <a:endParaRPr lang="en-US" sz="600" dirty="0"/>
          </a:p>
        </p:txBody>
      </p:sp>
      <p:sp>
        <p:nvSpPr>
          <p:cNvPr id="56" name="Text 52"/>
          <p:cNvSpPr/>
          <p:nvPr/>
        </p:nvSpPr>
        <p:spPr>
          <a:xfrm>
            <a:off x="6942665" y="1482328"/>
            <a:ext cx="857250" cy="241436"/>
          </a:xfrm>
          <a:prstGeom prst="rect">
            <a:avLst/>
          </a:prstGeom>
          <a:noFill/>
          <a:ln/>
        </p:spPr>
        <p:txBody>
          <a:bodyPr wrap="square" lIns="0" tIns="0" rIns="0" bIns="0" rtlCol="0" anchor="t">
            <a:spAutoFit/>
          </a:bodyPr>
          <a:lstStyle/>
          <a:p>
            <a:pPr algn="l" indent="0" marL="0">
              <a:lnSpc>
                <a:spcPct val="104000"/>
              </a:lnSpc>
              <a:buNone/>
            </a:pPr>
            <a:r>
              <a:rPr lang="en-US" sz="650" dirty="0">
                <a:solidFill>
                  <a:srgbClr val="F8FAFC"/>
                </a:solidFill>
                <a:latin typeface="JetBrains Mono" pitchFamily="34" charset="0"/>
                <a:ea typeface="JetBrains Mono" pitchFamily="34" charset="-122"/>
                <a:cs typeface="JetBrains Mono" pitchFamily="34" charset="-120"/>
              </a:rPr>
              <a:t>DROP</a:t>
            </a:r>
            <a:r>
              <a:rPr lang="en-US" sz="650" dirty="0">
                <a:solidFill>
                  <a:srgbClr val="F8FAFC"/>
                </a:solidFill>
                <a:latin typeface="JetBrains Mono" pitchFamily="34" charset="0"/>
                <a:ea typeface="JetBrains Mono" pitchFamily="34" charset="-122"/>
                <a:cs typeface="JetBrains Mono" pitchFamily="34" charset="-120"/>
              </a:rPr>
              <a:t>
</a:t>
            </a:r>
            <a:r>
              <a:rPr lang="en-US" sz="650" dirty="0">
                <a:solidFill>
                  <a:srgbClr val="94A3B8"/>
                </a:solidFill>
                <a:latin typeface="JetBrains Mono" pitchFamily="34" charset="0"/>
                <a:ea typeface="JetBrains Mono" pitchFamily="34" charset="-122"/>
                <a:cs typeface="JetBrains Mono" pitchFamily="34" charset="-120"/>
              </a:rPr>
              <a:t>Fault injection</a:t>
            </a:r>
            <a:endParaRPr lang="en-US" sz="650" dirty="0"/>
          </a:p>
        </p:txBody>
      </p:sp>
      <p:sp>
        <p:nvSpPr>
          <p:cNvPr id="57" name="Shape 53"/>
          <p:cNvSpPr/>
          <p:nvPr/>
        </p:nvSpPr>
        <p:spPr>
          <a:xfrm>
            <a:off x="6649771" y="1830195"/>
            <a:ext cx="214313" cy="214313"/>
          </a:xfrm>
          <a:prstGeom prst="rect">
            <a:avLst/>
          </a:prstGeom>
          <a:solidFill>
            <a:srgbClr val="F59E0B"/>
          </a:solidFill>
          <a:ln/>
        </p:spPr>
      </p:sp>
      <p:sp>
        <p:nvSpPr>
          <p:cNvPr id="58" name="Text 54"/>
          <p:cNvSpPr/>
          <p:nvPr/>
        </p:nvSpPr>
        <p:spPr>
          <a:xfrm>
            <a:off x="6649771" y="1830195"/>
            <a:ext cx="214313" cy="214313"/>
          </a:xfrm>
          <a:prstGeom prst="rect">
            <a:avLst/>
          </a:prstGeom>
          <a:noFill/>
          <a:ln/>
        </p:spPr>
        <p:txBody>
          <a:bodyPr wrap="none" lIns="0" tIns="0" rIns="0" bIns="0" rtlCol="0" anchor="ctr">
            <a:spAutoFit/>
          </a:bodyPr>
          <a:lstStyle/>
          <a:p>
            <a:pPr algn="ctr" indent="0" marL="0">
              <a:buNone/>
            </a:pPr>
            <a:r>
              <a:rPr lang="en-US" sz="600" b="1" dirty="0">
                <a:solidFill>
                  <a:srgbClr val="0F172A"/>
                </a:solidFill>
                <a:latin typeface="JetBrains Mono" pitchFamily="34" charset="0"/>
                <a:ea typeface="JetBrains Mono" pitchFamily="34" charset="-122"/>
                <a:cs typeface="JetBrains Mono" pitchFamily="34" charset="-120"/>
              </a:rPr>
              <a:t>02</a:t>
            </a:r>
            <a:endParaRPr lang="en-US" sz="600" dirty="0"/>
          </a:p>
        </p:txBody>
      </p:sp>
      <p:sp>
        <p:nvSpPr>
          <p:cNvPr id="59" name="Text 55"/>
          <p:cNvSpPr/>
          <p:nvPr/>
        </p:nvSpPr>
        <p:spPr>
          <a:xfrm>
            <a:off x="6942665" y="1816633"/>
            <a:ext cx="857250" cy="241436"/>
          </a:xfrm>
          <a:prstGeom prst="rect">
            <a:avLst/>
          </a:prstGeom>
          <a:noFill/>
          <a:ln/>
        </p:spPr>
        <p:txBody>
          <a:bodyPr wrap="square" lIns="0" tIns="0" rIns="0" bIns="0" rtlCol="0" anchor="t">
            <a:spAutoFit/>
          </a:bodyPr>
          <a:lstStyle/>
          <a:p>
            <a:pPr algn="l" indent="0" marL="0">
              <a:lnSpc>
                <a:spcPct val="104000"/>
              </a:lnSpc>
              <a:buNone/>
            </a:pPr>
            <a:r>
              <a:rPr lang="en-US" sz="650" dirty="0">
                <a:solidFill>
                  <a:srgbClr val="F8FAFC"/>
                </a:solidFill>
                <a:latin typeface="JetBrains Mono" pitchFamily="34" charset="0"/>
                <a:ea typeface="JetBrains Mono" pitchFamily="34" charset="-122"/>
                <a:cs typeface="JetBrains Mono" pitchFamily="34" charset="-120"/>
              </a:rPr>
              <a:t>ALERT</a:t>
            </a:r>
            <a:r>
              <a:rPr lang="en-US" sz="650" dirty="0">
                <a:solidFill>
                  <a:srgbClr val="F8FAFC"/>
                </a:solidFill>
                <a:latin typeface="JetBrains Mono" pitchFamily="34" charset="0"/>
                <a:ea typeface="JetBrains Mono" pitchFamily="34" charset="-122"/>
                <a:cs typeface="JetBrains Mono" pitchFamily="34" charset="-120"/>
              </a:rPr>
              <a:t>
</a:t>
            </a:r>
            <a:r>
              <a:rPr lang="en-US" sz="650" dirty="0">
                <a:solidFill>
                  <a:srgbClr val="94A3B8"/>
                </a:solidFill>
                <a:latin typeface="JetBrains Mono" pitchFamily="34" charset="0"/>
                <a:ea typeface="JetBrains Mono" pitchFamily="34" charset="-122"/>
                <a:cs typeface="JetBrains Mono" pitchFamily="34" charset="-120"/>
              </a:rPr>
              <a:t>Prometheus / AM</a:t>
            </a:r>
            <a:endParaRPr lang="en-US" sz="650" dirty="0"/>
          </a:p>
        </p:txBody>
      </p:sp>
      <p:sp>
        <p:nvSpPr>
          <p:cNvPr id="60" name="Shape 56"/>
          <p:cNvSpPr/>
          <p:nvPr/>
        </p:nvSpPr>
        <p:spPr>
          <a:xfrm>
            <a:off x="6649771" y="2164500"/>
            <a:ext cx="214313" cy="214313"/>
          </a:xfrm>
          <a:prstGeom prst="rect">
            <a:avLst/>
          </a:prstGeom>
          <a:solidFill>
            <a:srgbClr val="06B6D4"/>
          </a:solidFill>
          <a:ln/>
        </p:spPr>
      </p:sp>
      <p:sp>
        <p:nvSpPr>
          <p:cNvPr id="61" name="Text 57"/>
          <p:cNvSpPr/>
          <p:nvPr/>
        </p:nvSpPr>
        <p:spPr>
          <a:xfrm>
            <a:off x="6649771" y="2164500"/>
            <a:ext cx="214313" cy="214313"/>
          </a:xfrm>
          <a:prstGeom prst="rect">
            <a:avLst/>
          </a:prstGeom>
          <a:noFill/>
          <a:ln/>
        </p:spPr>
        <p:txBody>
          <a:bodyPr wrap="none" lIns="0" tIns="0" rIns="0" bIns="0" rtlCol="0" anchor="ctr">
            <a:spAutoFit/>
          </a:bodyPr>
          <a:lstStyle/>
          <a:p>
            <a:pPr algn="ctr" indent="0" marL="0">
              <a:buNone/>
            </a:pPr>
            <a:r>
              <a:rPr lang="en-US" sz="600" b="1" dirty="0">
                <a:solidFill>
                  <a:srgbClr val="0F172A"/>
                </a:solidFill>
                <a:latin typeface="JetBrains Mono" pitchFamily="34" charset="0"/>
                <a:ea typeface="JetBrains Mono" pitchFamily="34" charset="-122"/>
                <a:cs typeface="JetBrains Mono" pitchFamily="34" charset="-120"/>
              </a:rPr>
              <a:t>03</a:t>
            </a:r>
            <a:endParaRPr lang="en-US" sz="600" dirty="0"/>
          </a:p>
        </p:txBody>
      </p:sp>
      <p:sp>
        <p:nvSpPr>
          <p:cNvPr id="62" name="Text 58"/>
          <p:cNvSpPr/>
          <p:nvPr/>
        </p:nvSpPr>
        <p:spPr>
          <a:xfrm>
            <a:off x="6942665" y="2150938"/>
            <a:ext cx="628650" cy="241436"/>
          </a:xfrm>
          <a:prstGeom prst="rect">
            <a:avLst/>
          </a:prstGeom>
          <a:noFill/>
          <a:ln/>
        </p:spPr>
        <p:txBody>
          <a:bodyPr wrap="square" lIns="0" tIns="0" rIns="0" bIns="0" rtlCol="0" anchor="t">
            <a:spAutoFit/>
          </a:bodyPr>
          <a:lstStyle/>
          <a:p>
            <a:pPr algn="l" indent="0" marL="0">
              <a:lnSpc>
                <a:spcPct val="104000"/>
              </a:lnSpc>
              <a:buNone/>
            </a:pPr>
            <a:r>
              <a:rPr lang="en-US" sz="650" dirty="0">
                <a:solidFill>
                  <a:srgbClr val="F8FAFC"/>
                </a:solidFill>
                <a:latin typeface="JetBrains Mono" pitchFamily="34" charset="0"/>
                <a:ea typeface="JetBrains Mono" pitchFamily="34" charset="-122"/>
                <a:cs typeface="JetBrains Mono" pitchFamily="34" charset="-120"/>
              </a:rPr>
              <a:t>HEAL</a:t>
            </a:r>
            <a:r>
              <a:rPr lang="en-US" sz="650" dirty="0">
                <a:solidFill>
                  <a:srgbClr val="F8FAFC"/>
                </a:solidFill>
                <a:latin typeface="JetBrains Mono" pitchFamily="34" charset="0"/>
                <a:ea typeface="JetBrains Mono" pitchFamily="34" charset="-122"/>
                <a:cs typeface="JetBrains Mono" pitchFamily="34" charset="-120"/>
              </a:rPr>
              <a:t>
</a:t>
            </a:r>
            <a:r>
              <a:rPr lang="en-US" sz="650" dirty="0">
                <a:solidFill>
                  <a:srgbClr val="94A3B8"/>
                </a:solidFill>
                <a:latin typeface="JetBrains Mono" pitchFamily="34" charset="0"/>
                <a:ea typeface="JetBrains Mono" pitchFamily="34" charset="-122"/>
                <a:cs typeface="JetBrains Mono" pitchFamily="34" charset="-120"/>
              </a:rPr>
              <a:t>Go Operator</a:t>
            </a:r>
            <a:endParaRPr lang="en-US" sz="650" dirty="0"/>
          </a:p>
        </p:txBody>
      </p:sp>
      <p:sp>
        <p:nvSpPr>
          <p:cNvPr id="63" name="Shape 59"/>
          <p:cNvSpPr/>
          <p:nvPr/>
        </p:nvSpPr>
        <p:spPr>
          <a:xfrm>
            <a:off x="6649771" y="2498806"/>
            <a:ext cx="214313" cy="214313"/>
          </a:xfrm>
          <a:prstGeom prst="rect">
            <a:avLst/>
          </a:prstGeom>
          <a:solidFill>
            <a:srgbClr val="10B981"/>
          </a:solidFill>
          <a:ln/>
        </p:spPr>
      </p:sp>
      <p:sp>
        <p:nvSpPr>
          <p:cNvPr id="64" name="Text 60"/>
          <p:cNvSpPr/>
          <p:nvPr/>
        </p:nvSpPr>
        <p:spPr>
          <a:xfrm>
            <a:off x="6649771" y="2498806"/>
            <a:ext cx="214313" cy="214313"/>
          </a:xfrm>
          <a:prstGeom prst="rect">
            <a:avLst/>
          </a:prstGeom>
          <a:noFill/>
          <a:ln/>
        </p:spPr>
        <p:txBody>
          <a:bodyPr wrap="none" lIns="0" tIns="0" rIns="0" bIns="0" rtlCol="0" anchor="ctr">
            <a:spAutoFit/>
          </a:bodyPr>
          <a:lstStyle/>
          <a:p>
            <a:pPr algn="ctr" indent="0" marL="0">
              <a:buNone/>
            </a:pPr>
            <a:r>
              <a:rPr lang="en-US" sz="600" b="1" dirty="0">
                <a:solidFill>
                  <a:srgbClr val="0F172A"/>
                </a:solidFill>
                <a:latin typeface="JetBrains Mono" pitchFamily="34" charset="0"/>
                <a:ea typeface="JetBrains Mono" pitchFamily="34" charset="-122"/>
                <a:cs typeface="JetBrains Mono" pitchFamily="34" charset="-120"/>
              </a:rPr>
              <a:t>04</a:t>
            </a:r>
            <a:endParaRPr lang="en-US" sz="600" dirty="0"/>
          </a:p>
        </p:txBody>
      </p:sp>
      <p:sp>
        <p:nvSpPr>
          <p:cNvPr id="65" name="Text 61"/>
          <p:cNvSpPr/>
          <p:nvPr/>
        </p:nvSpPr>
        <p:spPr>
          <a:xfrm>
            <a:off x="6942665" y="2485244"/>
            <a:ext cx="742950" cy="241436"/>
          </a:xfrm>
          <a:prstGeom prst="rect">
            <a:avLst/>
          </a:prstGeom>
          <a:noFill/>
          <a:ln/>
        </p:spPr>
        <p:txBody>
          <a:bodyPr wrap="square" lIns="0" tIns="0" rIns="0" bIns="0" rtlCol="0" anchor="t">
            <a:spAutoFit/>
          </a:bodyPr>
          <a:lstStyle/>
          <a:p>
            <a:pPr algn="l" indent="0" marL="0">
              <a:lnSpc>
                <a:spcPct val="104000"/>
              </a:lnSpc>
              <a:buNone/>
            </a:pPr>
            <a:r>
              <a:rPr lang="en-US" sz="650" dirty="0">
                <a:solidFill>
                  <a:srgbClr val="F8FAFC"/>
                </a:solidFill>
                <a:latin typeface="JetBrains Mono" pitchFamily="34" charset="0"/>
                <a:ea typeface="JetBrains Mono" pitchFamily="34" charset="-122"/>
                <a:cs typeface="JetBrains Mono" pitchFamily="34" charset="-120"/>
              </a:rPr>
              <a:t>RECOVER</a:t>
            </a:r>
            <a:r>
              <a:rPr lang="en-US" sz="650" dirty="0">
                <a:solidFill>
                  <a:srgbClr val="F8FAFC"/>
                </a:solidFill>
                <a:latin typeface="JetBrains Mono" pitchFamily="34" charset="0"/>
                <a:ea typeface="JetBrains Mono" pitchFamily="34" charset="-122"/>
                <a:cs typeface="JetBrains Mono" pitchFamily="34" charset="-120"/>
              </a:rPr>
              <a:t>
</a:t>
            </a:r>
            <a:r>
              <a:rPr lang="en-US" sz="650" dirty="0">
                <a:solidFill>
                  <a:srgbClr val="94A3B8"/>
                </a:solidFill>
                <a:latin typeface="JetBrains Mono" pitchFamily="34" charset="0"/>
                <a:ea typeface="JetBrains Mono" pitchFamily="34" charset="-122"/>
                <a:cs typeface="JetBrains Mono" pitchFamily="34" charset="-120"/>
              </a:rPr>
              <a:t>Healthy state</a:t>
            </a:r>
            <a:endParaRPr lang="en-US" sz="650" dirty="0"/>
          </a:p>
        </p:txBody>
      </p:sp>
      <p:sp>
        <p:nvSpPr>
          <p:cNvPr id="66" name="Text 62"/>
          <p:cNvSpPr/>
          <p:nvPr/>
        </p:nvSpPr>
        <p:spPr>
          <a:xfrm>
            <a:off x="6649771" y="3019574"/>
            <a:ext cx="2065548" cy="125016"/>
          </a:xfrm>
          <a:prstGeom prst="rect">
            <a:avLst/>
          </a:prstGeom>
          <a:noFill/>
          <a:ln/>
        </p:spPr>
        <p:txBody>
          <a:bodyPr wrap="square" lIns="0" tIns="0" rIns="0" bIns="0" rtlCol="0" anchor="t">
            <a:spAutoFit/>
          </a:bodyPr>
          <a:lstStyle/>
          <a:p>
            <a:pPr algn="l" indent="0" marL="0">
              <a:buNone/>
            </a:pPr>
            <a:r>
              <a:rPr lang="en-US" sz="650" dirty="0">
                <a:solidFill>
                  <a:srgbClr val="10B981"/>
                </a:solidFill>
                <a:latin typeface="JetBrains Mono" pitchFamily="34" charset="0"/>
                <a:ea typeface="JetBrains Mono" pitchFamily="34" charset="-122"/>
                <a:cs typeface="JetBrains Mono" pitchFamily="34" charset="-120"/>
              </a:rPr>
              <a:t>✓ CLOSED-LOOP SUCCESS</a:t>
            </a:r>
            <a:endParaRPr lang="en-US" sz="650" dirty="0"/>
          </a:p>
        </p:txBody>
      </p:sp>
      <p:sp>
        <p:nvSpPr>
          <p:cNvPr id="67" name="Text 63"/>
          <p:cNvSpPr/>
          <p:nvPr/>
        </p:nvSpPr>
        <p:spPr>
          <a:xfrm>
            <a:off x="6649771" y="3201739"/>
            <a:ext cx="2065548" cy="466130"/>
          </a:xfrm>
          <a:prstGeom prst="rect">
            <a:avLst/>
          </a:prstGeom>
          <a:noFill/>
          <a:ln/>
        </p:spPr>
        <p:txBody>
          <a:bodyPr wrap="square" lIns="0" tIns="0" rIns="0" bIns="0" rtlCol="0" anchor="t">
            <a:spAutoFit/>
          </a:bodyPr>
          <a:lstStyle/>
          <a:p>
            <a:pPr algn="l" indent="0" marL="0">
              <a:lnSpc>
                <a:spcPct val="116000"/>
              </a:lnSpc>
              <a:buNone/>
            </a:pPr>
            <a:r>
              <a:rPr lang="en-US" sz="800" dirty="0">
                <a:solidFill>
                  <a:srgbClr val="F8FAFC"/>
                </a:solidFill>
                <a:latin typeface="Inter" pitchFamily="34" charset="0"/>
                <a:ea typeface="Inter" pitchFamily="34" charset="-122"/>
                <a:cs typeface="Inter" pitchFamily="34" charset="-120"/>
              </a:rPr>
              <a:t>Injected faults are detected, remediated, and returned to green without human intervention.</a:t>
            </a:r>
            <a:endParaRPr lang="en-US" sz="800" dirty="0"/>
          </a:p>
        </p:txBody>
      </p:sp>
      <p:sp>
        <p:nvSpPr>
          <p:cNvPr id="68" name="Shape 64"/>
          <p:cNvSpPr/>
          <p:nvPr/>
        </p:nvSpPr>
        <p:spPr>
          <a:xfrm>
            <a:off x="0" y="4857750"/>
            <a:ext cx="9144000" cy="285750"/>
          </a:xfrm>
          <a:prstGeom prst="rect">
            <a:avLst/>
          </a:prstGeom>
          <a:solidFill>
            <a:srgbClr val="000000">
              <a:alpha val="0"/>
            </a:srgbClr>
          </a:solidFill>
          <a:ln/>
        </p:spPr>
      </p:sp>
      <p:sp>
        <p:nvSpPr>
          <p:cNvPr id="69" name="Shape 65"/>
          <p:cNvSpPr/>
          <p:nvPr/>
        </p:nvSpPr>
        <p:spPr>
          <a:xfrm>
            <a:off x="0" y="4857750"/>
            <a:ext cx="9144000" cy="7144"/>
          </a:xfrm>
          <a:prstGeom prst="rect">
            <a:avLst/>
          </a:prstGeom>
          <a:solidFill>
            <a:srgbClr val="334155"/>
          </a:solidFill>
          <a:ln/>
        </p:spPr>
      </p:sp>
      <p:sp>
        <p:nvSpPr>
          <p:cNvPr id="70" name="Text 66"/>
          <p:cNvSpPr/>
          <p:nvPr/>
        </p:nvSpPr>
        <p:spPr>
          <a:xfrm>
            <a:off x="285750" y="4934545"/>
            <a:ext cx="1639491" cy="132159"/>
          </a:xfrm>
          <a:prstGeom prst="rect">
            <a:avLst/>
          </a:prstGeom>
          <a:noFill/>
          <a:ln/>
        </p:spPr>
        <p:txBody>
          <a:bodyPr wrap="square" lIns="0" tIns="0" rIns="0" bIns="0" rtlCol="0" anchor="t">
            <a:spAutoFit/>
          </a:bodyPr>
          <a:lstStyle/>
          <a:p>
            <a:pPr algn="l" indent="0" marL="0">
              <a:buNone/>
            </a:pPr>
            <a:r>
              <a:rPr lang="en-US" sz="750" dirty="0">
                <a:solidFill>
                  <a:srgbClr val="94A3B8"/>
                </a:solidFill>
                <a:latin typeface="JetBrains Mono" pitchFamily="34" charset="0"/>
                <a:ea typeface="JetBrains Mono" pitchFamily="34" charset="-122"/>
                <a:cs typeface="JetBrains Mono" pitchFamily="34" charset="-120"/>
              </a:rPr>
              <a:t>K8S-AUTO-HEAL // EVALUATION</a:t>
            </a:r>
            <a:endParaRPr lang="en-US" sz="750" dirty="0"/>
          </a:p>
        </p:txBody>
      </p:sp>
      <p:sp>
        <p:nvSpPr>
          <p:cNvPr id="71" name="Text 67"/>
          <p:cNvSpPr/>
          <p:nvPr/>
        </p:nvSpPr>
        <p:spPr>
          <a:xfrm>
            <a:off x="8736806" y="4934545"/>
            <a:ext cx="121444" cy="132159"/>
          </a:xfrm>
          <a:prstGeom prst="rect">
            <a:avLst/>
          </a:prstGeom>
          <a:noFill/>
          <a:ln/>
        </p:spPr>
        <p:txBody>
          <a:bodyPr wrap="none" lIns="0" tIns="0" rIns="0" bIns="0" rtlCol="0" anchor="t">
            <a:spAutoFit/>
          </a:bodyPr>
          <a:lstStyle/>
          <a:p>
            <a:pPr algn="l" indent="0" marL="0">
              <a:buNone/>
            </a:pPr>
            <a:r>
              <a:rPr lang="en-US" sz="750" dirty="0">
                <a:solidFill>
                  <a:srgbClr val="94A3B8"/>
                </a:solidFill>
                <a:latin typeface="JetBrains Mono" pitchFamily="34" charset="0"/>
                <a:ea typeface="JetBrains Mono" pitchFamily="34" charset="-122"/>
                <a:cs typeface="JetBrains Mono" pitchFamily="34" charset="-120"/>
              </a:rPr>
              <a:t>03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85750" y="285750"/>
            <a:ext cx="8572500" cy="642938"/>
          </a:xfrm>
          <a:prstGeom prst="rect">
            <a:avLst/>
          </a:prstGeom>
          <a:solidFill>
            <a:srgbClr val="000000">
              <a:alpha val="0"/>
            </a:srgbClr>
          </a:solidFill>
          <a:ln/>
        </p:spPr>
      </p:sp>
      <p:sp>
        <p:nvSpPr>
          <p:cNvPr id="5" name="Shape 1"/>
          <p:cNvSpPr/>
          <p:nvPr/>
        </p:nvSpPr>
        <p:spPr>
          <a:xfrm>
            <a:off x="285750" y="285750"/>
            <a:ext cx="28575" cy="642938"/>
          </a:xfrm>
          <a:prstGeom prst="rect">
            <a:avLst/>
          </a:prstGeom>
          <a:solidFill>
            <a:srgbClr val="06B6D4"/>
          </a:solidFill>
          <a:ln/>
        </p:spPr>
      </p:sp>
      <p:sp>
        <p:nvSpPr>
          <p:cNvPr id="6" name="Text 2"/>
          <p:cNvSpPr/>
          <p:nvPr/>
        </p:nvSpPr>
        <p:spPr>
          <a:xfrm>
            <a:off x="428625" y="285750"/>
            <a:ext cx="8429625" cy="414338"/>
          </a:xfrm>
          <a:prstGeom prst="rect">
            <a:avLst/>
          </a:prstGeom>
          <a:noFill/>
          <a:ln/>
        </p:spPr>
        <p:txBody>
          <a:bodyPr wrap="square" lIns="0" tIns="0" rIns="0" bIns="0" rtlCol="0" anchor="t">
            <a:spAutoFit/>
          </a:bodyPr>
          <a:lstStyle/>
          <a:p>
            <a:pPr algn="l" indent="0" marL="0">
              <a:buNone/>
            </a:pPr>
            <a:r>
              <a:rPr lang="en-US" sz="2450" b="1" spc="-1" kern="0" dirty="0">
                <a:solidFill>
                  <a:srgbClr val="F8FAFC"/>
                </a:solidFill>
                <a:latin typeface="Inter Bold" pitchFamily="34" charset="0"/>
                <a:ea typeface="Inter Bold" pitchFamily="34" charset="-122"/>
                <a:cs typeface="Inter Bold" pitchFamily="34" charset="-120"/>
              </a:rPr>
              <a:t>Performance, Scalability &amp; Reliability</a:t>
            </a:r>
            <a:endParaRPr lang="en-US" sz="2450" dirty="0"/>
          </a:p>
        </p:txBody>
      </p:sp>
      <p:sp>
        <p:nvSpPr>
          <p:cNvPr id="7" name="Text 3"/>
          <p:cNvSpPr/>
          <p:nvPr/>
        </p:nvSpPr>
        <p:spPr>
          <a:xfrm>
            <a:off x="428625" y="757238"/>
            <a:ext cx="8429625" cy="171450"/>
          </a:xfrm>
          <a:prstGeom prst="rect">
            <a:avLst/>
          </a:prstGeom>
          <a:noFill/>
          <a:ln/>
        </p:spPr>
        <p:txBody>
          <a:bodyPr wrap="square" lIns="0" tIns="0" rIns="0" bIns="0" rtlCol="0" anchor="t">
            <a:spAutoFit/>
          </a:bodyPr>
          <a:lstStyle/>
          <a:p>
            <a:pPr algn="l" indent="0" marL="0">
              <a:buNone/>
            </a:pPr>
            <a:r>
              <a:rPr lang="en-US" sz="950" dirty="0">
                <a:solidFill>
                  <a:srgbClr val="06B6D4"/>
                </a:solidFill>
                <a:latin typeface="JetBrains Mono" pitchFamily="34" charset="0"/>
                <a:ea typeface="JetBrains Mono" pitchFamily="34" charset="-122"/>
                <a:cs typeface="JetBrains Mono" pitchFamily="34" charset="-120"/>
              </a:rPr>
              <a:t>SELF-HEALING SLA &amp; SYSTEM ROBUSTNESS</a:t>
            </a:r>
            <a:endParaRPr lang="en-US" sz="950" dirty="0"/>
          </a:p>
        </p:txBody>
      </p:sp>
      <p:sp>
        <p:nvSpPr>
          <p:cNvPr id="8" name="Text 4"/>
          <p:cNvSpPr/>
          <p:nvPr/>
        </p:nvSpPr>
        <p:spPr>
          <a:xfrm>
            <a:off x="285750" y="1214438"/>
            <a:ext cx="4071938" cy="132159"/>
          </a:xfrm>
          <a:prstGeom prst="rect">
            <a:avLst/>
          </a:prstGeom>
          <a:noFill/>
          <a:ln/>
        </p:spPr>
        <p:txBody>
          <a:bodyPr wrap="square" lIns="0" tIns="0" rIns="0" bIns="0" rtlCol="0" anchor="t">
            <a:spAutoFit/>
          </a:bodyPr>
          <a:lstStyle/>
          <a:p>
            <a:pPr algn="l" indent="0" marL="0">
              <a:buNone/>
            </a:pPr>
            <a:r>
              <a:rPr lang="en-US" sz="750" spc="1" kern="0" dirty="0">
                <a:solidFill>
                  <a:srgbClr val="94A3B8"/>
                </a:solidFill>
                <a:latin typeface="JetBrains Mono" pitchFamily="34" charset="0"/>
                <a:ea typeface="JetBrains Mono" pitchFamily="34" charset="-122"/>
                <a:cs typeface="JetBrains Mono" pitchFamily="34" charset="-120"/>
              </a:rPr>
              <a:t>PERFORMANCE (SELF-HEALING SLA)</a:t>
            </a:r>
            <a:endParaRPr lang="en-US" sz="750" dirty="0"/>
          </a:p>
        </p:txBody>
      </p:sp>
      <p:sp>
        <p:nvSpPr>
          <p:cNvPr id="9" name="Shape 5"/>
          <p:cNvSpPr/>
          <p:nvPr/>
        </p:nvSpPr>
        <p:spPr>
          <a:xfrm>
            <a:off x="285750" y="1460897"/>
            <a:ext cx="4071938" cy="3064669"/>
          </a:xfrm>
          <a:prstGeom prst="rect">
            <a:avLst/>
          </a:prstGeom>
          <a:solidFill>
            <a:srgbClr val="1E293B"/>
          </a:solidFill>
          <a:ln w="9144">
            <a:solidFill>
              <a:srgbClr val="334155"/>
            </a:solidFill>
            <a:prstDash val="solid"/>
          </a:ln>
        </p:spPr>
      </p:sp>
      <p:sp>
        <p:nvSpPr>
          <p:cNvPr id="10" name="Text 6"/>
          <p:cNvSpPr/>
          <p:nvPr/>
        </p:nvSpPr>
        <p:spPr>
          <a:xfrm>
            <a:off x="500063" y="1675209"/>
            <a:ext cx="3643313" cy="553641"/>
          </a:xfrm>
          <a:prstGeom prst="rect">
            <a:avLst/>
          </a:prstGeom>
          <a:noFill/>
          <a:ln/>
        </p:spPr>
        <p:txBody>
          <a:bodyPr wrap="square" lIns="0" tIns="0" rIns="0" bIns="0" rtlCol="0" anchor="t">
            <a:spAutoFit/>
          </a:bodyPr>
          <a:lstStyle/>
          <a:p>
            <a:pPr algn="l" indent="0" marL="0">
              <a:buNone/>
            </a:pPr>
            <a:r>
              <a:rPr lang="en-US" sz="3300" b="1" dirty="0">
                <a:solidFill>
                  <a:srgbClr val="06B6D4"/>
                </a:solidFill>
                <a:latin typeface="Inter Bold" pitchFamily="34" charset="0"/>
                <a:ea typeface="Inter Bold" pitchFamily="34" charset="-122"/>
                <a:cs typeface="Inter Bold" pitchFamily="34" charset="-120"/>
              </a:rPr>
              <a:t>~60s</a:t>
            </a:r>
            <a:endParaRPr lang="en-US" sz="3300" dirty="0"/>
          </a:p>
        </p:txBody>
      </p:sp>
      <p:sp>
        <p:nvSpPr>
          <p:cNvPr id="11" name="Text 7"/>
          <p:cNvSpPr/>
          <p:nvPr/>
        </p:nvSpPr>
        <p:spPr>
          <a:xfrm>
            <a:off x="500063" y="2300288"/>
            <a:ext cx="3643313" cy="171450"/>
          </a:xfrm>
          <a:prstGeom prst="rect">
            <a:avLst/>
          </a:prstGeom>
          <a:noFill/>
          <a:ln/>
        </p:spPr>
        <p:txBody>
          <a:bodyPr wrap="square" lIns="0" tIns="0" rIns="0" bIns="0" rtlCol="0" anchor="t">
            <a:spAutoFit/>
          </a:bodyPr>
          <a:lstStyle/>
          <a:p>
            <a:pPr algn="l" indent="0" marL="0">
              <a:buNone/>
            </a:pPr>
            <a:r>
              <a:rPr lang="en-US" sz="950" dirty="0">
                <a:solidFill>
                  <a:srgbClr val="F8FAFC"/>
                </a:solidFill>
                <a:latin typeface="JetBrains Mono" pitchFamily="34" charset="0"/>
                <a:ea typeface="JetBrains Mono" pitchFamily="34" charset="-122"/>
                <a:cs typeface="JetBrains Mono" pitchFamily="34" charset="-120"/>
              </a:rPr>
              <a:t>Detection to Remediation Loop</a:t>
            </a:r>
            <a:endParaRPr lang="en-US" sz="950" dirty="0"/>
          </a:p>
        </p:txBody>
      </p:sp>
      <p:sp>
        <p:nvSpPr>
          <p:cNvPr id="12" name="Text 8"/>
          <p:cNvSpPr/>
          <p:nvPr/>
        </p:nvSpPr>
        <p:spPr>
          <a:xfrm>
            <a:off x="500063" y="2743200"/>
            <a:ext cx="850106" cy="132159"/>
          </a:xfrm>
          <a:prstGeom prst="rect">
            <a:avLst/>
          </a:prstGeom>
          <a:noFill/>
          <a:ln/>
        </p:spPr>
        <p:txBody>
          <a:bodyPr wrap="none" lIns="0" tIns="0" rIns="0" bIns="0" rtlCol="0" anchor="t">
            <a:spAutoFit/>
          </a:bodyPr>
          <a:lstStyle/>
          <a:p>
            <a:pPr algn="l" indent="0" marL="0">
              <a:buNone/>
            </a:pPr>
            <a:r>
              <a:rPr lang="en-US" sz="750" dirty="0">
                <a:solidFill>
                  <a:srgbClr val="F8FAFC"/>
                </a:solidFill>
                <a:latin typeface="JetBrains Mono" pitchFamily="34" charset="0"/>
                <a:ea typeface="JetBrains Mono" pitchFamily="34" charset="-122"/>
                <a:cs typeface="JetBrains Mono" pitchFamily="34" charset="-120"/>
              </a:rPr>
              <a:t>Probe Interval</a:t>
            </a:r>
            <a:endParaRPr lang="en-US" sz="750" dirty="0"/>
          </a:p>
        </p:txBody>
      </p:sp>
      <p:sp>
        <p:nvSpPr>
          <p:cNvPr id="13" name="Text 9"/>
          <p:cNvSpPr/>
          <p:nvPr/>
        </p:nvSpPr>
        <p:spPr>
          <a:xfrm>
            <a:off x="3961209" y="2743200"/>
            <a:ext cx="182166" cy="132159"/>
          </a:xfrm>
          <a:prstGeom prst="rect">
            <a:avLst/>
          </a:prstGeom>
          <a:noFill/>
          <a:ln/>
        </p:spPr>
        <p:txBody>
          <a:bodyPr wrap="none" lIns="0" tIns="0" rIns="0" bIns="0" rtlCol="0" anchor="t">
            <a:spAutoFit/>
          </a:bodyPr>
          <a:lstStyle/>
          <a:p>
            <a:pPr algn="l" indent="0" marL="0">
              <a:buNone/>
            </a:pPr>
            <a:r>
              <a:rPr lang="en-US" sz="700" b="1" dirty="0">
                <a:solidFill>
                  <a:srgbClr val="06B6D4"/>
                </a:solidFill>
                <a:latin typeface="JetBrains Mono" pitchFamily="34" charset="0"/>
                <a:ea typeface="JetBrains Mono" pitchFamily="34" charset="-122"/>
                <a:cs typeface="JetBrains Mono" pitchFamily="34" charset="-120"/>
              </a:rPr>
              <a:t>15s</a:t>
            </a:r>
            <a:endParaRPr lang="en-US" sz="700" dirty="0"/>
          </a:p>
        </p:txBody>
      </p:sp>
      <p:sp>
        <p:nvSpPr>
          <p:cNvPr id="14" name="Text 10"/>
          <p:cNvSpPr/>
          <p:nvPr/>
        </p:nvSpPr>
        <p:spPr>
          <a:xfrm>
            <a:off x="500063" y="3082528"/>
            <a:ext cx="1335881" cy="132159"/>
          </a:xfrm>
          <a:prstGeom prst="rect">
            <a:avLst/>
          </a:prstGeom>
          <a:noFill/>
          <a:ln/>
        </p:spPr>
        <p:txBody>
          <a:bodyPr wrap="square" lIns="0" tIns="0" rIns="0" bIns="0" rtlCol="0" anchor="t">
            <a:spAutoFit/>
          </a:bodyPr>
          <a:lstStyle/>
          <a:p>
            <a:pPr algn="l" indent="0" marL="0">
              <a:buNone/>
            </a:pPr>
            <a:r>
              <a:rPr lang="en-US" sz="750" dirty="0">
                <a:solidFill>
                  <a:srgbClr val="F8FAFC"/>
                </a:solidFill>
                <a:latin typeface="JetBrains Mono" pitchFamily="34" charset="0"/>
                <a:ea typeface="JetBrains Mono" pitchFamily="34" charset="-122"/>
                <a:cs typeface="JetBrains Mono" pitchFamily="34" charset="-120"/>
              </a:rPr>
              <a:t>Prometheus "For" State</a:t>
            </a:r>
            <a:endParaRPr lang="en-US" sz="750" dirty="0"/>
          </a:p>
        </p:txBody>
      </p:sp>
      <p:sp>
        <p:nvSpPr>
          <p:cNvPr id="15" name="Text 11"/>
          <p:cNvSpPr/>
          <p:nvPr/>
        </p:nvSpPr>
        <p:spPr>
          <a:xfrm>
            <a:off x="3961209" y="3082528"/>
            <a:ext cx="182166" cy="132159"/>
          </a:xfrm>
          <a:prstGeom prst="rect">
            <a:avLst/>
          </a:prstGeom>
          <a:noFill/>
          <a:ln/>
        </p:spPr>
        <p:txBody>
          <a:bodyPr wrap="none" lIns="0" tIns="0" rIns="0" bIns="0" rtlCol="0" anchor="t">
            <a:spAutoFit/>
          </a:bodyPr>
          <a:lstStyle/>
          <a:p>
            <a:pPr algn="l" indent="0" marL="0">
              <a:buNone/>
            </a:pPr>
            <a:r>
              <a:rPr lang="en-US" sz="700" b="1" dirty="0">
                <a:solidFill>
                  <a:srgbClr val="06B6D4"/>
                </a:solidFill>
                <a:latin typeface="JetBrains Mono" pitchFamily="34" charset="0"/>
                <a:ea typeface="JetBrains Mono" pitchFamily="34" charset="-122"/>
                <a:cs typeface="JetBrains Mono" pitchFamily="34" charset="-120"/>
              </a:rPr>
              <a:t>15s</a:t>
            </a:r>
            <a:endParaRPr lang="en-US" sz="700" dirty="0"/>
          </a:p>
        </p:txBody>
      </p:sp>
      <p:sp>
        <p:nvSpPr>
          <p:cNvPr id="16" name="Text 12"/>
          <p:cNvSpPr/>
          <p:nvPr/>
        </p:nvSpPr>
        <p:spPr>
          <a:xfrm>
            <a:off x="500063" y="3421856"/>
            <a:ext cx="1275159" cy="132159"/>
          </a:xfrm>
          <a:prstGeom prst="rect">
            <a:avLst/>
          </a:prstGeom>
          <a:noFill/>
          <a:ln/>
        </p:spPr>
        <p:txBody>
          <a:bodyPr wrap="none" lIns="0" tIns="0" rIns="0" bIns="0" rtlCol="0" anchor="t">
            <a:spAutoFit/>
          </a:bodyPr>
          <a:lstStyle/>
          <a:p>
            <a:pPr algn="l" indent="0" marL="0">
              <a:buNone/>
            </a:pPr>
            <a:r>
              <a:rPr lang="en-US" sz="750" dirty="0">
                <a:solidFill>
                  <a:srgbClr val="F8FAFC"/>
                </a:solidFill>
                <a:latin typeface="JetBrains Mono" pitchFamily="34" charset="0"/>
                <a:ea typeface="JetBrains Mono" pitchFamily="34" charset="-122"/>
                <a:cs typeface="JetBrains Mono" pitchFamily="34" charset="-120"/>
              </a:rPr>
              <a:t>Alertmanager Grouping</a:t>
            </a:r>
            <a:endParaRPr lang="en-US" sz="750" dirty="0"/>
          </a:p>
        </p:txBody>
      </p:sp>
      <p:sp>
        <p:nvSpPr>
          <p:cNvPr id="17" name="Text 13"/>
          <p:cNvSpPr/>
          <p:nvPr/>
        </p:nvSpPr>
        <p:spPr>
          <a:xfrm>
            <a:off x="3961209" y="3421856"/>
            <a:ext cx="182166" cy="132159"/>
          </a:xfrm>
          <a:prstGeom prst="rect">
            <a:avLst/>
          </a:prstGeom>
          <a:noFill/>
          <a:ln/>
        </p:spPr>
        <p:txBody>
          <a:bodyPr wrap="none" lIns="0" tIns="0" rIns="0" bIns="0" rtlCol="0" anchor="t">
            <a:spAutoFit/>
          </a:bodyPr>
          <a:lstStyle/>
          <a:p>
            <a:pPr algn="l" indent="0" marL="0">
              <a:buNone/>
            </a:pPr>
            <a:r>
              <a:rPr lang="en-US" sz="700" b="1" dirty="0">
                <a:solidFill>
                  <a:srgbClr val="06B6D4"/>
                </a:solidFill>
                <a:latin typeface="JetBrains Mono" pitchFamily="34" charset="0"/>
                <a:ea typeface="JetBrains Mono" pitchFamily="34" charset="-122"/>
                <a:cs typeface="JetBrains Mono" pitchFamily="34" charset="-120"/>
              </a:rPr>
              <a:t>10s</a:t>
            </a:r>
            <a:endParaRPr lang="en-US" sz="700" dirty="0"/>
          </a:p>
        </p:txBody>
      </p:sp>
      <p:sp>
        <p:nvSpPr>
          <p:cNvPr id="18" name="Text 14"/>
          <p:cNvSpPr/>
          <p:nvPr/>
        </p:nvSpPr>
        <p:spPr>
          <a:xfrm>
            <a:off x="500063" y="3761184"/>
            <a:ext cx="1092994" cy="132159"/>
          </a:xfrm>
          <a:prstGeom prst="rect">
            <a:avLst/>
          </a:prstGeom>
          <a:noFill/>
          <a:ln/>
        </p:spPr>
        <p:txBody>
          <a:bodyPr wrap="none" lIns="0" tIns="0" rIns="0" bIns="0" rtlCol="0" anchor="t">
            <a:spAutoFit/>
          </a:bodyPr>
          <a:lstStyle/>
          <a:p>
            <a:pPr algn="l" indent="0" marL="0">
              <a:buNone/>
            </a:pPr>
            <a:r>
              <a:rPr lang="en-US" sz="750" dirty="0">
                <a:solidFill>
                  <a:srgbClr val="F8FAFC"/>
                </a:solidFill>
                <a:latin typeface="JetBrains Mono" pitchFamily="34" charset="0"/>
                <a:ea typeface="JetBrains Mono" pitchFamily="34" charset="-122"/>
                <a:cs typeface="JetBrains Mono" pitchFamily="34" charset="-120"/>
              </a:rPr>
              <a:t>Operator Execution</a:t>
            </a:r>
            <a:endParaRPr lang="en-US" sz="750" dirty="0"/>
          </a:p>
        </p:txBody>
      </p:sp>
      <p:sp>
        <p:nvSpPr>
          <p:cNvPr id="19" name="Text 15"/>
          <p:cNvSpPr/>
          <p:nvPr/>
        </p:nvSpPr>
        <p:spPr>
          <a:xfrm>
            <a:off x="3961209" y="3761184"/>
            <a:ext cx="182166" cy="132159"/>
          </a:xfrm>
          <a:prstGeom prst="rect">
            <a:avLst/>
          </a:prstGeom>
          <a:noFill/>
          <a:ln/>
        </p:spPr>
        <p:txBody>
          <a:bodyPr wrap="none" lIns="0" tIns="0" rIns="0" bIns="0" rtlCol="0" anchor="t">
            <a:spAutoFit/>
          </a:bodyPr>
          <a:lstStyle/>
          <a:p>
            <a:pPr algn="l" indent="0" marL="0">
              <a:buNone/>
            </a:pPr>
            <a:r>
              <a:rPr lang="en-US" sz="700" b="1" dirty="0">
                <a:solidFill>
                  <a:srgbClr val="06B6D4"/>
                </a:solidFill>
                <a:latin typeface="JetBrains Mono" pitchFamily="34" charset="0"/>
                <a:ea typeface="JetBrains Mono" pitchFamily="34" charset="-122"/>
                <a:cs typeface="JetBrains Mono" pitchFamily="34" charset="-120"/>
              </a:rPr>
              <a:t>10s</a:t>
            </a:r>
            <a:endParaRPr lang="en-US" sz="700" dirty="0"/>
          </a:p>
        </p:txBody>
      </p:sp>
      <p:sp>
        <p:nvSpPr>
          <p:cNvPr id="20" name="Text 16"/>
          <p:cNvSpPr/>
          <p:nvPr/>
        </p:nvSpPr>
        <p:spPr>
          <a:xfrm>
            <a:off x="500063" y="4100513"/>
            <a:ext cx="1032272" cy="132159"/>
          </a:xfrm>
          <a:prstGeom prst="rect">
            <a:avLst/>
          </a:prstGeom>
          <a:noFill/>
          <a:ln/>
        </p:spPr>
        <p:txBody>
          <a:bodyPr wrap="none" lIns="0" tIns="0" rIns="0" bIns="0" rtlCol="0" anchor="t">
            <a:spAutoFit/>
          </a:bodyPr>
          <a:lstStyle/>
          <a:p>
            <a:pPr algn="l" indent="0" marL="0">
              <a:buNone/>
            </a:pPr>
            <a:r>
              <a:rPr lang="en-US" sz="750" dirty="0">
                <a:solidFill>
                  <a:srgbClr val="F8FAFC"/>
                </a:solidFill>
                <a:latin typeface="JetBrains Mono" pitchFamily="34" charset="0"/>
                <a:ea typeface="JetBrains Mono" pitchFamily="34" charset="-122"/>
                <a:cs typeface="JetBrains Mono" pitchFamily="34" charset="-120"/>
              </a:rPr>
              <a:t>State Convergence</a:t>
            </a:r>
            <a:endParaRPr lang="en-US" sz="750" dirty="0"/>
          </a:p>
        </p:txBody>
      </p:sp>
      <p:sp>
        <p:nvSpPr>
          <p:cNvPr id="21" name="Text 17"/>
          <p:cNvSpPr/>
          <p:nvPr/>
        </p:nvSpPr>
        <p:spPr>
          <a:xfrm>
            <a:off x="3961209" y="4100513"/>
            <a:ext cx="182166" cy="132159"/>
          </a:xfrm>
          <a:prstGeom prst="rect">
            <a:avLst/>
          </a:prstGeom>
          <a:noFill/>
          <a:ln/>
        </p:spPr>
        <p:txBody>
          <a:bodyPr wrap="none" lIns="0" tIns="0" rIns="0" bIns="0" rtlCol="0" anchor="t">
            <a:spAutoFit/>
          </a:bodyPr>
          <a:lstStyle/>
          <a:p>
            <a:pPr algn="l" indent="0" marL="0">
              <a:buNone/>
            </a:pPr>
            <a:r>
              <a:rPr lang="en-US" sz="700" b="1" dirty="0">
                <a:solidFill>
                  <a:srgbClr val="06B6D4"/>
                </a:solidFill>
                <a:latin typeface="JetBrains Mono" pitchFamily="34" charset="0"/>
                <a:ea typeface="JetBrains Mono" pitchFamily="34" charset="-122"/>
                <a:cs typeface="JetBrains Mono" pitchFamily="34" charset="-120"/>
              </a:rPr>
              <a:t>10s</a:t>
            </a:r>
            <a:endParaRPr lang="en-US" sz="700" dirty="0"/>
          </a:p>
        </p:txBody>
      </p:sp>
      <p:sp>
        <p:nvSpPr>
          <p:cNvPr id="22" name="Text 18"/>
          <p:cNvSpPr/>
          <p:nvPr/>
        </p:nvSpPr>
        <p:spPr>
          <a:xfrm>
            <a:off x="4786313" y="1214438"/>
            <a:ext cx="4071938" cy="132159"/>
          </a:xfrm>
          <a:prstGeom prst="rect">
            <a:avLst/>
          </a:prstGeom>
          <a:noFill/>
          <a:ln/>
        </p:spPr>
        <p:txBody>
          <a:bodyPr wrap="square" lIns="0" tIns="0" rIns="0" bIns="0" rtlCol="0" anchor="t">
            <a:spAutoFit/>
          </a:bodyPr>
          <a:lstStyle/>
          <a:p>
            <a:pPr algn="l" indent="0" marL="0">
              <a:buNone/>
            </a:pPr>
            <a:r>
              <a:rPr lang="en-US" sz="750" spc="1" kern="0" dirty="0">
                <a:solidFill>
                  <a:srgbClr val="94A3B8"/>
                </a:solidFill>
                <a:latin typeface="JetBrains Mono" pitchFamily="34" charset="0"/>
                <a:ea typeface="JetBrains Mono" pitchFamily="34" charset="-122"/>
                <a:cs typeface="JetBrains Mono" pitchFamily="34" charset="-120"/>
              </a:rPr>
              <a:t>RELIABILITY &amp; SCALABILITY</a:t>
            </a:r>
            <a:endParaRPr lang="en-US" sz="750" dirty="0"/>
          </a:p>
        </p:txBody>
      </p:sp>
      <p:sp>
        <p:nvSpPr>
          <p:cNvPr id="23" name="Shape 19"/>
          <p:cNvSpPr/>
          <p:nvPr/>
        </p:nvSpPr>
        <p:spPr>
          <a:xfrm>
            <a:off x="4786313" y="1460897"/>
            <a:ext cx="1964531" cy="1160859"/>
          </a:xfrm>
          <a:prstGeom prst="rect">
            <a:avLst/>
          </a:prstGeom>
          <a:solidFill>
            <a:srgbClr val="1E293B"/>
          </a:solidFill>
          <a:ln w="9144">
            <a:solidFill>
              <a:srgbClr val="334155"/>
            </a:solidFill>
            <a:prstDash val="solid"/>
          </a:ln>
        </p:spPr>
      </p:sp>
      <p:sp>
        <p:nvSpPr>
          <p:cNvPr id="24" name="Text 20"/>
          <p:cNvSpPr/>
          <p:nvPr/>
        </p:nvSpPr>
        <p:spPr>
          <a:xfrm>
            <a:off x="4929188" y="1603772"/>
            <a:ext cx="1678781" cy="132159"/>
          </a:xfrm>
          <a:prstGeom prst="rect">
            <a:avLst/>
          </a:prstGeom>
          <a:noFill/>
          <a:ln/>
        </p:spPr>
        <p:txBody>
          <a:bodyPr wrap="square" lIns="0" tIns="0" rIns="0" bIns="0" rtlCol="0" anchor="t">
            <a:spAutoFit/>
          </a:bodyPr>
          <a:lstStyle/>
          <a:p>
            <a:pPr algn="l" indent="0" marL="0">
              <a:buNone/>
            </a:pPr>
            <a:r>
              <a:rPr lang="en-US" sz="700" b="1" dirty="0">
                <a:solidFill>
                  <a:srgbClr val="06B6D4"/>
                </a:solidFill>
                <a:latin typeface="JetBrains Mono" pitchFamily="34" charset="0"/>
                <a:ea typeface="JetBrains Mono" pitchFamily="34" charset="-122"/>
                <a:cs typeface="JetBrains Mono" pitchFamily="34" charset="-120"/>
              </a:rPr>
              <a:t>IDEMPOTENCY</a:t>
            </a:r>
            <a:endParaRPr lang="en-US" sz="700" dirty="0"/>
          </a:p>
        </p:txBody>
      </p:sp>
      <p:sp>
        <p:nvSpPr>
          <p:cNvPr id="25" name="Text 21"/>
          <p:cNvSpPr/>
          <p:nvPr/>
        </p:nvSpPr>
        <p:spPr>
          <a:xfrm>
            <a:off x="4929188" y="1821656"/>
            <a:ext cx="1678781" cy="642938"/>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F8FAFC"/>
                </a:solidFill>
                <a:latin typeface="Inter" pitchFamily="34" charset="0"/>
                <a:ea typeface="Inter" pitchFamily="34" charset="-122"/>
                <a:cs typeface="Inter" pitchFamily="34" charset="-120"/>
              </a:rPr>
              <a:t>Standard client-go libraries ensure operations are safe to run multiple times without corruption.</a:t>
            </a:r>
            <a:endParaRPr lang="en-US" sz="800" dirty="0"/>
          </a:p>
        </p:txBody>
      </p:sp>
      <p:sp>
        <p:nvSpPr>
          <p:cNvPr id="26" name="Shape 22"/>
          <p:cNvSpPr/>
          <p:nvPr/>
        </p:nvSpPr>
        <p:spPr>
          <a:xfrm>
            <a:off x="6893719" y="1460897"/>
            <a:ext cx="1964531" cy="1146572"/>
          </a:xfrm>
          <a:prstGeom prst="rect">
            <a:avLst/>
          </a:prstGeom>
          <a:solidFill>
            <a:srgbClr val="1E293B"/>
          </a:solidFill>
          <a:ln w="9144">
            <a:solidFill>
              <a:srgbClr val="334155"/>
            </a:solidFill>
            <a:prstDash val="solid"/>
          </a:ln>
        </p:spPr>
      </p:sp>
      <p:sp>
        <p:nvSpPr>
          <p:cNvPr id="27" name="Text 23"/>
          <p:cNvSpPr/>
          <p:nvPr/>
        </p:nvSpPr>
        <p:spPr>
          <a:xfrm>
            <a:off x="7036594" y="1603772"/>
            <a:ext cx="1678781" cy="132159"/>
          </a:xfrm>
          <a:prstGeom prst="rect">
            <a:avLst/>
          </a:prstGeom>
          <a:noFill/>
          <a:ln/>
        </p:spPr>
        <p:txBody>
          <a:bodyPr wrap="square" lIns="0" tIns="0" rIns="0" bIns="0" rtlCol="0" anchor="t">
            <a:spAutoFit/>
          </a:bodyPr>
          <a:lstStyle/>
          <a:p>
            <a:pPr algn="l" indent="0" marL="0">
              <a:buNone/>
            </a:pPr>
            <a:r>
              <a:rPr lang="en-US" sz="700" b="1" dirty="0">
                <a:solidFill>
                  <a:srgbClr val="06B6D4"/>
                </a:solidFill>
                <a:latin typeface="JetBrains Mono" pitchFamily="34" charset="0"/>
                <a:ea typeface="JetBrains Mono" pitchFamily="34" charset="-122"/>
                <a:cs typeface="JetBrains Mono" pitchFamily="34" charset="-120"/>
              </a:rPr>
              <a:t>RBAC SECURITY</a:t>
            </a:r>
            <a:endParaRPr lang="en-US" sz="700" dirty="0"/>
          </a:p>
        </p:txBody>
      </p:sp>
      <p:sp>
        <p:nvSpPr>
          <p:cNvPr id="28" name="Text 24"/>
          <p:cNvSpPr/>
          <p:nvPr/>
        </p:nvSpPr>
        <p:spPr>
          <a:xfrm>
            <a:off x="7036594" y="1821656"/>
            <a:ext cx="1678781" cy="482203"/>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F8FAFC"/>
                </a:solidFill>
                <a:latin typeface="Inter" pitchFamily="34" charset="0"/>
                <a:ea typeface="Inter" pitchFamily="34" charset="-122"/>
                <a:cs typeface="Inter" pitchFamily="34" charset="-120"/>
              </a:rPr>
              <a:t>Strict least-privilege scoping via dedicated ClusterRoles and ServiceAccounts.</a:t>
            </a:r>
            <a:endParaRPr lang="en-US" sz="800" dirty="0"/>
          </a:p>
        </p:txBody>
      </p:sp>
      <p:sp>
        <p:nvSpPr>
          <p:cNvPr id="29" name="Shape 25"/>
          <p:cNvSpPr/>
          <p:nvPr/>
        </p:nvSpPr>
        <p:spPr>
          <a:xfrm>
            <a:off x="4786313" y="2750344"/>
            <a:ext cx="1964531" cy="1160859"/>
          </a:xfrm>
          <a:prstGeom prst="rect">
            <a:avLst/>
          </a:prstGeom>
          <a:solidFill>
            <a:srgbClr val="1E293B"/>
          </a:solidFill>
          <a:ln w="9144">
            <a:solidFill>
              <a:srgbClr val="334155"/>
            </a:solidFill>
            <a:prstDash val="solid"/>
          </a:ln>
        </p:spPr>
      </p:sp>
      <p:sp>
        <p:nvSpPr>
          <p:cNvPr id="30" name="Text 26"/>
          <p:cNvSpPr/>
          <p:nvPr/>
        </p:nvSpPr>
        <p:spPr>
          <a:xfrm>
            <a:off x="4929188" y="2893219"/>
            <a:ext cx="1678781" cy="132159"/>
          </a:xfrm>
          <a:prstGeom prst="rect">
            <a:avLst/>
          </a:prstGeom>
          <a:noFill/>
          <a:ln/>
        </p:spPr>
        <p:txBody>
          <a:bodyPr wrap="square" lIns="0" tIns="0" rIns="0" bIns="0" rtlCol="0" anchor="t">
            <a:spAutoFit/>
          </a:bodyPr>
          <a:lstStyle/>
          <a:p>
            <a:pPr algn="l" indent="0" marL="0">
              <a:buNone/>
            </a:pPr>
            <a:r>
              <a:rPr lang="en-US" sz="700" b="1" dirty="0">
                <a:solidFill>
                  <a:srgbClr val="06B6D4"/>
                </a:solidFill>
                <a:latin typeface="JetBrains Mono" pitchFamily="34" charset="0"/>
                <a:ea typeface="JetBrains Mono" pitchFamily="34" charset="-122"/>
                <a:cs typeface="JetBrains Mono" pitchFamily="34" charset="-120"/>
              </a:rPr>
              <a:t>STATELESSNESS</a:t>
            </a:r>
            <a:endParaRPr lang="en-US" sz="700" dirty="0"/>
          </a:p>
        </p:txBody>
      </p:sp>
      <p:sp>
        <p:nvSpPr>
          <p:cNvPr id="31" name="Text 27"/>
          <p:cNvSpPr/>
          <p:nvPr/>
        </p:nvSpPr>
        <p:spPr>
          <a:xfrm>
            <a:off x="4929188" y="3111103"/>
            <a:ext cx="1678781" cy="482203"/>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F8FAFC"/>
                </a:solidFill>
                <a:latin typeface="Inter" pitchFamily="34" charset="0"/>
                <a:ea typeface="Inter" pitchFamily="34" charset="-122"/>
                <a:cs typeface="Inter" pitchFamily="34" charset="-120"/>
              </a:rPr>
              <a:t>Go-webhook receiver holds no local state, allowing horizontal scaling across large clusters.</a:t>
            </a:r>
            <a:endParaRPr lang="en-US" sz="800" dirty="0"/>
          </a:p>
        </p:txBody>
      </p:sp>
      <p:sp>
        <p:nvSpPr>
          <p:cNvPr id="32" name="Shape 28"/>
          <p:cNvSpPr/>
          <p:nvPr/>
        </p:nvSpPr>
        <p:spPr>
          <a:xfrm>
            <a:off x="6893719" y="2750344"/>
            <a:ext cx="1964531" cy="1160859"/>
          </a:xfrm>
          <a:prstGeom prst="rect">
            <a:avLst/>
          </a:prstGeom>
          <a:solidFill>
            <a:srgbClr val="1E293B"/>
          </a:solidFill>
          <a:ln w="9144">
            <a:solidFill>
              <a:srgbClr val="334155"/>
            </a:solidFill>
            <a:prstDash val="solid"/>
          </a:ln>
        </p:spPr>
      </p:sp>
      <p:sp>
        <p:nvSpPr>
          <p:cNvPr id="33" name="Text 29"/>
          <p:cNvSpPr/>
          <p:nvPr/>
        </p:nvSpPr>
        <p:spPr>
          <a:xfrm>
            <a:off x="7036594" y="2893219"/>
            <a:ext cx="1678781" cy="132159"/>
          </a:xfrm>
          <a:prstGeom prst="rect">
            <a:avLst/>
          </a:prstGeom>
          <a:noFill/>
          <a:ln/>
        </p:spPr>
        <p:txBody>
          <a:bodyPr wrap="square" lIns="0" tIns="0" rIns="0" bIns="0" rtlCol="0" anchor="t">
            <a:spAutoFit/>
          </a:bodyPr>
          <a:lstStyle/>
          <a:p>
            <a:pPr algn="l" indent="0" marL="0">
              <a:buNone/>
            </a:pPr>
            <a:r>
              <a:rPr lang="en-US" sz="700" b="1" dirty="0">
                <a:solidFill>
                  <a:srgbClr val="06B6D4"/>
                </a:solidFill>
                <a:latin typeface="JetBrains Mono" pitchFamily="34" charset="0"/>
                <a:ea typeface="JetBrains Mono" pitchFamily="34" charset="-122"/>
                <a:cs typeface="JetBrains Mono" pitchFamily="34" charset="-120"/>
              </a:rPr>
              <a:t>METRIC EFFICIENCY</a:t>
            </a:r>
            <a:endParaRPr lang="en-US" sz="700" dirty="0"/>
          </a:p>
        </p:txBody>
      </p:sp>
      <p:sp>
        <p:nvSpPr>
          <p:cNvPr id="34" name="Text 30"/>
          <p:cNvSpPr/>
          <p:nvPr/>
        </p:nvSpPr>
        <p:spPr>
          <a:xfrm>
            <a:off x="7036594" y="3111103"/>
            <a:ext cx="1678781" cy="482203"/>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F8FAFC"/>
                </a:solidFill>
                <a:latin typeface="Inter" pitchFamily="34" charset="0"/>
                <a:ea typeface="Inter" pitchFamily="34" charset="-122"/>
                <a:cs typeface="Inter" pitchFamily="34" charset="-120"/>
              </a:rPr>
              <a:t>Lightweight probes conform to standard K8s formats, preventing Prometheus overhead.</a:t>
            </a:r>
            <a:endParaRPr lang="en-US" sz="800" dirty="0"/>
          </a:p>
        </p:txBody>
      </p:sp>
      <p:sp>
        <p:nvSpPr>
          <p:cNvPr id="35" name="Shape 31"/>
          <p:cNvSpPr/>
          <p:nvPr/>
        </p:nvSpPr>
        <p:spPr>
          <a:xfrm>
            <a:off x="0" y="4857750"/>
            <a:ext cx="9144000" cy="285750"/>
          </a:xfrm>
          <a:prstGeom prst="rect">
            <a:avLst/>
          </a:prstGeom>
          <a:solidFill>
            <a:srgbClr val="000000">
              <a:alpha val="0"/>
            </a:srgbClr>
          </a:solidFill>
          <a:ln/>
        </p:spPr>
      </p:sp>
      <p:sp>
        <p:nvSpPr>
          <p:cNvPr id="36" name="Shape 32"/>
          <p:cNvSpPr/>
          <p:nvPr/>
        </p:nvSpPr>
        <p:spPr>
          <a:xfrm>
            <a:off x="0" y="4857750"/>
            <a:ext cx="9144000" cy="7144"/>
          </a:xfrm>
          <a:prstGeom prst="rect">
            <a:avLst/>
          </a:prstGeom>
          <a:solidFill>
            <a:srgbClr val="334155"/>
          </a:solidFill>
          <a:ln/>
        </p:spPr>
      </p:sp>
      <p:sp>
        <p:nvSpPr>
          <p:cNvPr id="37" name="Text 33"/>
          <p:cNvSpPr/>
          <p:nvPr/>
        </p:nvSpPr>
        <p:spPr>
          <a:xfrm>
            <a:off x="285750" y="4934545"/>
            <a:ext cx="1639491" cy="132159"/>
          </a:xfrm>
          <a:prstGeom prst="rect">
            <a:avLst/>
          </a:prstGeom>
          <a:noFill/>
          <a:ln/>
        </p:spPr>
        <p:txBody>
          <a:bodyPr wrap="square" lIns="0" tIns="0" rIns="0" bIns="0" rtlCol="0" anchor="t">
            <a:spAutoFit/>
          </a:bodyPr>
          <a:lstStyle/>
          <a:p>
            <a:pPr algn="l" indent="0" marL="0">
              <a:buNone/>
            </a:pPr>
            <a:r>
              <a:rPr lang="en-US" sz="750" dirty="0">
                <a:solidFill>
                  <a:srgbClr val="94A3B8"/>
                </a:solidFill>
                <a:latin typeface="JetBrains Mono" pitchFamily="34" charset="0"/>
                <a:ea typeface="JetBrains Mono" pitchFamily="34" charset="-122"/>
                <a:cs typeface="JetBrains Mono" pitchFamily="34" charset="-120"/>
              </a:rPr>
              <a:t>K8S-AUTO-HEAL // EVALUATION</a:t>
            </a:r>
            <a:endParaRPr lang="en-US" sz="750" dirty="0"/>
          </a:p>
        </p:txBody>
      </p:sp>
      <p:sp>
        <p:nvSpPr>
          <p:cNvPr id="38" name="Text 34"/>
          <p:cNvSpPr/>
          <p:nvPr/>
        </p:nvSpPr>
        <p:spPr>
          <a:xfrm>
            <a:off x="8736806" y="4934545"/>
            <a:ext cx="121444" cy="132159"/>
          </a:xfrm>
          <a:prstGeom prst="rect">
            <a:avLst/>
          </a:prstGeom>
          <a:noFill/>
          <a:ln/>
        </p:spPr>
        <p:txBody>
          <a:bodyPr wrap="none" lIns="0" tIns="0" rIns="0" bIns="0" rtlCol="0" anchor="t">
            <a:spAutoFit/>
          </a:bodyPr>
          <a:lstStyle/>
          <a:p>
            <a:pPr algn="l" indent="0" marL="0">
              <a:buNone/>
            </a:pPr>
            <a:r>
              <a:rPr lang="en-US" sz="750" dirty="0">
                <a:solidFill>
                  <a:srgbClr val="94A3B8"/>
                </a:solidFill>
                <a:latin typeface="JetBrains Mono" pitchFamily="34" charset="0"/>
                <a:ea typeface="JetBrains Mono" pitchFamily="34" charset="-122"/>
                <a:cs typeface="JetBrains Mono" pitchFamily="34" charset="-120"/>
              </a:rPr>
              <a:t>04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85750" y="285750"/>
            <a:ext cx="8572500" cy="642938"/>
          </a:xfrm>
          <a:prstGeom prst="rect">
            <a:avLst/>
          </a:prstGeom>
          <a:solidFill>
            <a:srgbClr val="000000">
              <a:alpha val="0"/>
            </a:srgbClr>
          </a:solidFill>
          <a:ln/>
        </p:spPr>
      </p:sp>
      <p:sp>
        <p:nvSpPr>
          <p:cNvPr id="5" name="Shape 1"/>
          <p:cNvSpPr/>
          <p:nvPr/>
        </p:nvSpPr>
        <p:spPr>
          <a:xfrm>
            <a:off x="285750" y="285750"/>
            <a:ext cx="28575" cy="642938"/>
          </a:xfrm>
          <a:prstGeom prst="rect">
            <a:avLst/>
          </a:prstGeom>
          <a:solidFill>
            <a:srgbClr val="06B6D4"/>
          </a:solidFill>
          <a:ln/>
        </p:spPr>
      </p:sp>
      <p:sp>
        <p:nvSpPr>
          <p:cNvPr id="6" name="Text 2"/>
          <p:cNvSpPr/>
          <p:nvPr/>
        </p:nvSpPr>
        <p:spPr>
          <a:xfrm>
            <a:off x="428625" y="285750"/>
            <a:ext cx="8429625" cy="414338"/>
          </a:xfrm>
          <a:prstGeom prst="rect">
            <a:avLst/>
          </a:prstGeom>
          <a:noFill/>
          <a:ln/>
        </p:spPr>
        <p:txBody>
          <a:bodyPr wrap="square" lIns="0" tIns="0" rIns="0" bIns="0" rtlCol="0" anchor="t">
            <a:spAutoFit/>
          </a:bodyPr>
          <a:lstStyle/>
          <a:p>
            <a:pPr algn="l" indent="0" marL="0">
              <a:buNone/>
            </a:pPr>
            <a:r>
              <a:rPr lang="en-US" sz="2450" b="1" spc="-1" kern="0" dirty="0">
                <a:solidFill>
                  <a:srgbClr val="F8FAFC"/>
                </a:solidFill>
                <a:latin typeface="Inter Bold" pitchFamily="34" charset="0"/>
                <a:ea typeface="Inter Bold" pitchFamily="34" charset="-122"/>
                <a:cs typeface="Inter Bold" pitchFamily="34" charset="-120"/>
              </a:rPr>
              <a:t>Technical Challenges &amp; Learnings</a:t>
            </a:r>
            <a:endParaRPr lang="en-US" sz="2450" dirty="0"/>
          </a:p>
        </p:txBody>
      </p:sp>
      <p:sp>
        <p:nvSpPr>
          <p:cNvPr id="7" name="Text 3"/>
          <p:cNvSpPr/>
          <p:nvPr/>
        </p:nvSpPr>
        <p:spPr>
          <a:xfrm>
            <a:off x="428625" y="757238"/>
            <a:ext cx="8429625" cy="171450"/>
          </a:xfrm>
          <a:prstGeom prst="rect">
            <a:avLst/>
          </a:prstGeom>
          <a:noFill/>
          <a:ln/>
        </p:spPr>
        <p:txBody>
          <a:bodyPr wrap="square" lIns="0" tIns="0" rIns="0" bIns="0" rtlCol="0" anchor="t">
            <a:spAutoFit/>
          </a:bodyPr>
          <a:lstStyle/>
          <a:p>
            <a:pPr algn="l" indent="0" marL="0">
              <a:buNone/>
            </a:pPr>
            <a:r>
              <a:rPr lang="en-US" sz="950" dirty="0">
                <a:solidFill>
                  <a:srgbClr val="06B6D4"/>
                </a:solidFill>
                <a:latin typeface="JetBrains Mono" pitchFamily="34" charset="0"/>
                <a:ea typeface="JetBrains Mono" pitchFamily="34" charset="-122"/>
                <a:cs typeface="JetBrains Mono" pitchFamily="34" charset="-120"/>
              </a:rPr>
              <a:t>INSIGHTS FROM BUILDING RESILIENT INFRASTRUCTURE</a:t>
            </a:r>
            <a:endParaRPr lang="en-US" sz="950" dirty="0"/>
          </a:p>
        </p:txBody>
      </p:sp>
      <p:sp>
        <p:nvSpPr>
          <p:cNvPr id="8" name="Shape 4"/>
          <p:cNvSpPr/>
          <p:nvPr/>
        </p:nvSpPr>
        <p:spPr>
          <a:xfrm>
            <a:off x="285750" y="1214438"/>
            <a:ext cx="2714625" cy="3643313"/>
          </a:xfrm>
          <a:prstGeom prst="rect">
            <a:avLst/>
          </a:prstGeom>
          <a:solidFill>
            <a:srgbClr val="1E293B"/>
          </a:solidFill>
          <a:ln w="9144">
            <a:solidFill>
              <a:srgbClr val="334155"/>
            </a:solidFill>
            <a:prstDash val="solid"/>
          </a:ln>
        </p:spPr>
      </p:sp>
      <p:sp>
        <p:nvSpPr>
          <p:cNvPr id="9" name="Text 5"/>
          <p:cNvSpPr/>
          <p:nvPr/>
        </p:nvSpPr>
        <p:spPr>
          <a:xfrm>
            <a:off x="500063" y="1428750"/>
            <a:ext cx="2286000" cy="275034"/>
          </a:xfrm>
          <a:prstGeom prst="rect">
            <a:avLst/>
          </a:prstGeom>
          <a:noFill/>
          <a:ln/>
        </p:spPr>
        <p:txBody>
          <a:bodyPr wrap="square" lIns="0" tIns="0" rIns="0" bIns="0" rtlCol="0" anchor="t">
            <a:spAutoFit/>
          </a:bodyPr>
          <a:lstStyle/>
          <a:p>
            <a:pPr algn="l" indent="0" marL="0">
              <a:buNone/>
            </a:pPr>
            <a:r>
              <a:rPr lang="en-US" sz="1700" dirty="0">
                <a:solidFill>
                  <a:srgbClr val="F59E0B"/>
                </a:solidFill>
                <a:latin typeface="Inter" pitchFamily="34" charset="0"/>
                <a:ea typeface="Inter" pitchFamily="34" charset="-122"/>
                <a:cs typeface="Inter" pitchFamily="34" charset="-120"/>
              </a:rPr>
              <a:t>⚠</a:t>
            </a:r>
            <a:endParaRPr lang="en-US" sz="1700" dirty="0"/>
          </a:p>
        </p:txBody>
      </p:sp>
      <p:sp>
        <p:nvSpPr>
          <p:cNvPr id="10" name="Text 6"/>
          <p:cNvSpPr/>
          <p:nvPr/>
        </p:nvSpPr>
        <p:spPr>
          <a:xfrm>
            <a:off x="500063" y="1846659"/>
            <a:ext cx="2286000" cy="192881"/>
          </a:xfrm>
          <a:prstGeom prst="rect">
            <a:avLst/>
          </a:prstGeom>
          <a:noFill/>
          <a:ln/>
        </p:spPr>
        <p:txBody>
          <a:bodyPr wrap="square" lIns="0" tIns="0" rIns="0" bIns="0" rtlCol="0" anchor="t">
            <a:spAutoFit/>
          </a:bodyPr>
          <a:lstStyle/>
          <a:p>
            <a:pPr algn="l" indent="0" marL="0">
              <a:buNone/>
            </a:pPr>
            <a:r>
              <a:rPr lang="en-US" sz="1100" b="1" dirty="0">
                <a:solidFill>
                  <a:srgbClr val="F8FAFC"/>
                </a:solidFill>
                <a:latin typeface="Inter Bold" pitchFamily="34" charset="0"/>
                <a:ea typeface="Inter Bold" pitchFamily="34" charset="-122"/>
                <a:cs typeface="Inter Bold" pitchFamily="34" charset="-120"/>
              </a:rPr>
              <a:t>Monitoring "Chicken-or-Egg"</a:t>
            </a:r>
            <a:endParaRPr lang="en-US" sz="1100" dirty="0"/>
          </a:p>
        </p:txBody>
      </p:sp>
      <p:sp>
        <p:nvSpPr>
          <p:cNvPr id="11" name="Text 7"/>
          <p:cNvSpPr/>
          <p:nvPr/>
        </p:nvSpPr>
        <p:spPr>
          <a:xfrm>
            <a:off x="500063" y="2153841"/>
            <a:ext cx="2286000" cy="1530325"/>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94A3B8"/>
                </a:solidFill>
                <a:latin typeface="Inter" pitchFamily="34" charset="0"/>
                <a:ea typeface="Inter" pitchFamily="34" charset="-122"/>
                <a:cs typeface="Inter" pitchFamily="34" charset="-120"/>
              </a:rPr>
              <a:t>DNS failure broke internal K8s resolution, causing Grafana to lose connection to Prometheus.</a:t>
            </a:r>
            <a:endParaRPr lang="en-US" sz="850" dirty="0"/>
          </a:p>
        </p:txBody>
      </p:sp>
      <p:sp>
        <p:nvSpPr>
          <p:cNvPr id="12" name="Shape 8"/>
          <p:cNvSpPr/>
          <p:nvPr/>
        </p:nvSpPr>
        <p:spPr>
          <a:xfrm>
            <a:off x="500063" y="3827041"/>
            <a:ext cx="2286000" cy="816397"/>
          </a:xfrm>
          <a:prstGeom prst="rect">
            <a:avLst/>
          </a:prstGeom>
          <a:solidFill>
            <a:srgbClr val="0F172A"/>
          </a:solidFill>
          <a:ln w="9144">
            <a:solidFill>
              <a:srgbClr val="06B6D4"/>
            </a:solidFill>
            <a:prstDash val="solid"/>
          </a:ln>
        </p:spPr>
      </p:sp>
      <p:sp>
        <p:nvSpPr>
          <p:cNvPr id="13" name="Text 9"/>
          <p:cNvSpPr/>
          <p:nvPr/>
        </p:nvSpPr>
        <p:spPr>
          <a:xfrm>
            <a:off x="607219" y="3948485"/>
            <a:ext cx="2071688" cy="110728"/>
          </a:xfrm>
          <a:prstGeom prst="rect">
            <a:avLst/>
          </a:prstGeom>
          <a:noFill/>
          <a:ln/>
        </p:spPr>
        <p:txBody>
          <a:bodyPr wrap="square" lIns="0" tIns="0" rIns="0" bIns="0" rtlCol="0" anchor="t">
            <a:spAutoFit/>
          </a:bodyPr>
          <a:lstStyle/>
          <a:p>
            <a:pPr algn="l" indent="0" marL="0">
              <a:buNone/>
            </a:pPr>
            <a:r>
              <a:rPr lang="en-US" sz="600" dirty="0">
                <a:solidFill>
                  <a:srgbClr val="06B6D4"/>
                </a:solidFill>
                <a:latin typeface="JetBrains Mono" pitchFamily="34" charset="0"/>
                <a:ea typeface="JetBrains Mono" pitchFamily="34" charset="-122"/>
                <a:cs typeface="JetBrains Mono" pitchFamily="34" charset="-120"/>
              </a:rPr>
              <a:t>LEARNING</a:t>
            </a:r>
            <a:endParaRPr lang="en-US" sz="600" dirty="0"/>
          </a:p>
        </p:txBody>
      </p:sp>
      <p:sp>
        <p:nvSpPr>
          <p:cNvPr id="14" name="Text 10"/>
          <p:cNvSpPr/>
          <p:nvPr/>
        </p:nvSpPr>
        <p:spPr>
          <a:xfrm>
            <a:off x="607219" y="4116363"/>
            <a:ext cx="2071688" cy="419919"/>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F8FAFC"/>
                </a:solidFill>
                <a:latin typeface="Inter" pitchFamily="34" charset="0"/>
                <a:ea typeface="Inter" pitchFamily="34" charset="-122"/>
                <a:cs typeface="Inter" pitchFamily="34" charset="-120"/>
              </a:rPr>
              <a:t>Decouple monitoring from the infrastructure it monitors using IP-based routing.</a:t>
            </a:r>
            <a:endParaRPr lang="en-US" sz="750" dirty="0"/>
          </a:p>
        </p:txBody>
      </p:sp>
      <p:sp>
        <p:nvSpPr>
          <p:cNvPr id="15" name="Shape 11"/>
          <p:cNvSpPr/>
          <p:nvPr/>
        </p:nvSpPr>
        <p:spPr>
          <a:xfrm>
            <a:off x="3214688" y="1214438"/>
            <a:ext cx="2714625" cy="3643313"/>
          </a:xfrm>
          <a:prstGeom prst="rect">
            <a:avLst/>
          </a:prstGeom>
          <a:solidFill>
            <a:srgbClr val="1E293B"/>
          </a:solidFill>
          <a:ln w="9144">
            <a:solidFill>
              <a:srgbClr val="334155"/>
            </a:solidFill>
            <a:prstDash val="solid"/>
          </a:ln>
        </p:spPr>
      </p:sp>
      <p:sp>
        <p:nvSpPr>
          <p:cNvPr id="16" name="Text 12"/>
          <p:cNvSpPr/>
          <p:nvPr/>
        </p:nvSpPr>
        <p:spPr>
          <a:xfrm>
            <a:off x="3429000" y="1428750"/>
            <a:ext cx="2286000" cy="278606"/>
          </a:xfrm>
          <a:prstGeom prst="rect">
            <a:avLst/>
          </a:prstGeom>
          <a:noFill/>
          <a:ln/>
        </p:spPr>
        <p:txBody>
          <a:bodyPr wrap="square" lIns="0" tIns="0" rIns="0" bIns="0" rtlCol="0" anchor="t">
            <a:spAutoFit/>
          </a:bodyPr>
          <a:lstStyle/>
          <a:p>
            <a:pPr algn="l" indent="0" marL="0">
              <a:buNone/>
            </a:pPr>
            <a:r>
              <a:rPr lang="en-US" sz="1700" dirty="0">
                <a:solidFill>
                  <a:srgbClr val="F59E0B"/>
                </a:solidFill>
                <a:latin typeface="Inter" pitchFamily="34" charset="0"/>
                <a:ea typeface="Inter" pitchFamily="34" charset="-122"/>
                <a:cs typeface="Inter" pitchFamily="34" charset="-120"/>
              </a:rPr>
              <a:t>⚡</a:t>
            </a:r>
            <a:endParaRPr lang="en-US" sz="1700" dirty="0"/>
          </a:p>
        </p:txBody>
      </p:sp>
      <p:sp>
        <p:nvSpPr>
          <p:cNvPr id="17" name="Text 13"/>
          <p:cNvSpPr/>
          <p:nvPr/>
        </p:nvSpPr>
        <p:spPr>
          <a:xfrm>
            <a:off x="3429000" y="1850231"/>
            <a:ext cx="2286000" cy="192881"/>
          </a:xfrm>
          <a:prstGeom prst="rect">
            <a:avLst/>
          </a:prstGeom>
          <a:noFill/>
          <a:ln/>
        </p:spPr>
        <p:txBody>
          <a:bodyPr wrap="square" lIns="0" tIns="0" rIns="0" bIns="0" rtlCol="0" anchor="t">
            <a:spAutoFit/>
          </a:bodyPr>
          <a:lstStyle/>
          <a:p>
            <a:pPr algn="l" indent="0" marL="0">
              <a:buNone/>
            </a:pPr>
            <a:r>
              <a:rPr lang="en-US" sz="1100" b="1" dirty="0">
                <a:solidFill>
                  <a:srgbClr val="F8FAFC"/>
                </a:solidFill>
                <a:latin typeface="Inter Bold" pitchFamily="34" charset="0"/>
                <a:ea typeface="Inter Bold" pitchFamily="34" charset="-122"/>
                <a:cs typeface="Inter Bold" pitchFamily="34" charset="-120"/>
              </a:rPr>
              <a:t>Event-Driven Concurrency</a:t>
            </a:r>
            <a:endParaRPr lang="en-US" sz="1100" dirty="0"/>
          </a:p>
        </p:txBody>
      </p:sp>
      <p:sp>
        <p:nvSpPr>
          <p:cNvPr id="18" name="Text 14"/>
          <p:cNvSpPr/>
          <p:nvPr/>
        </p:nvSpPr>
        <p:spPr>
          <a:xfrm>
            <a:off x="3429000" y="2157413"/>
            <a:ext cx="2286000" cy="1666726"/>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94A3B8"/>
                </a:solidFill>
                <a:latin typeface="Inter" pitchFamily="34" charset="0"/>
                <a:ea typeface="Inter" pitchFamily="34" charset="-122"/>
                <a:cs typeface="Inter" pitchFamily="34" charset="-120"/>
              </a:rPr>
              <a:t>Alertmanager fired multiple webhooks for one incident before the cluster fully healed.</a:t>
            </a:r>
            <a:endParaRPr lang="en-US" sz="850" dirty="0"/>
          </a:p>
        </p:txBody>
      </p:sp>
      <p:sp>
        <p:nvSpPr>
          <p:cNvPr id="19" name="Shape 15"/>
          <p:cNvSpPr/>
          <p:nvPr/>
        </p:nvSpPr>
        <p:spPr>
          <a:xfrm>
            <a:off x="3429000" y="3967014"/>
            <a:ext cx="2286000" cy="676424"/>
          </a:xfrm>
          <a:prstGeom prst="rect">
            <a:avLst/>
          </a:prstGeom>
          <a:solidFill>
            <a:srgbClr val="0F172A"/>
          </a:solidFill>
          <a:ln w="9144">
            <a:solidFill>
              <a:srgbClr val="06B6D4"/>
            </a:solidFill>
            <a:prstDash val="solid"/>
          </a:ln>
        </p:spPr>
      </p:sp>
      <p:sp>
        <p:nvSpPr>
          <p:cNvPr id="20" name="Text 16"/>
          <p:cNvSpPr/>
          <p:nvPr/>
        </p:nvSpPr>
        <p:spPr>
          <a:xfrm>
            <a:off x="3536156" y="4088457"/>
            <a:ext cx="2071688" cy="110728"/>
          </a:xfrm>
          <a:prstGeom prst="rect">
            <a:avLst/>
          </a:prstGeom>
          <a:noFill/>
          <a:ln/>
        </p:spPr>
        <p:txBody>
          <a:bodyPr wrap="square" lIns="0" tIns="0" rIns="0" bIns="0" rtlCol="0" anchor="t">
            <a:spAutoFit/>
          </a:bodyPr>
          <a:lstStyle/>
          <a:p>
            <a:pPr algn="l" indent="0" marL="0">
              <a:buNone/>
            </a:pPr>
            <a:r>
              <a:rPr lang="en-US" sz="600" dirty="0">
                <a:solidFill>
                  <a:srgbClr val="06B6D4"/>
                </a:solidFill>
                <a:latin typeface="JetBrains Mono" pitchFamily="34" charset="0"/>
                <a:ea typeface="JetBrains Mono" pitchFamily="34" charset="-122"/>
                <a:cs typeface="JetBrains Mono" pitchFamily="34" charset="-120"/>
              </a:rPr>
              <a:t>LEARNING</a:t>
            </a:r>
            <a:endParaRPr lang="en-US" sz="600" dirty="0"/>
          </a:p>
        </p:txBody>
      </p:sp>
      <p:sp>
        <p:nvSpPr>
          <p:cNvPr id="21" name="Text 17"/>
          <p:cNvSpPr/>
          <p:nvPr/>
        </p:nvSpPr>
        <p:spPr>
          <a:xfrm>
            <a:off x="3536156" y="4256336"/>
            <a:ext cx="2071688"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F8FAFC"/>
                </a:solidFill>
                <a:latin typeface="Inter" pitchFamily="34" charset="0"/>
                <a:ea typeface="Inter" pitchFamily="34" charset="-122"/>
                <a:cs typeface="Inter" pitchFamily="34" charset="-120"/>
              </a:rPr>
              <a:t>Implement state-aware logic in the Operator to check API state before acting.</a:t>
            </a:r>
            <a:endParaRPr lang="en-US" sz="750" dirty="0"/>
          </a:p>
        </p:txBody>
      </p:sp>
      <p:sp>
        <p:nvSpPr>
          <p:cNvPr id="22" name="Shape 18"/>
          <p:cNvSpPr/>
          <p:nvPr/>
        </p:nvSpPr>
        <p:spPr>
          <a:xfrm>
            <a:off x="6143625" y="1214438"/>
            <a:ext cx="2714625" cy="3643313"/>
          </a:xfrm>
          <a:prstGeom prst="rect">
            <a:avLst/>
          </a:prstGeom>
          <a:solidFill>
            <a:srgbClr val="1E293B"/>
          </a:solidFill>
          <a:ln w="9144">
            <a:solidFill>
              <a:srgbClr val="334155"/>
            </a:solidFill>
            <a:prstDash val="solid"/>
          </a:ln>
        </p:spPr>
      </p:sp>
      <p:sp>
        <p:nvSpPr>
          <p:cNvPr id="23" name="Text 19"/>
          <p:cNvSpPr/>
          <p:nvPr/>
        </p:nvSpPr>
        <p:spPr>
          <a:xfrm>
            <a:off x="6357938" y="1428750"/>
            <a:ext cx="2286000" cy="275034"/>
          </a:xfrm>
          <a:prstGeom prst="rect">
            <a:avLst/>
          </a:prstGeom>
          <a:noFill/>
          <a:ln/>
        </p:spPr>
        <p:txBody>
          <a:bodyPr wrap="square" lIns="0" tIns="0" rIns="0" bIns="0" rtlCol="0" anchor="t">
            <a:spAutoFit/>
          </a:bodyPr>
          <a:lstStyle/>
          <a:p>
            <a:pPr algn="l" indent="0" marL="0">
              <a:buNone/>
            </a:pPr>
            <a:r>
              <a:rPr lang="en-US" sz="1700" dirty="0">
                <a:solidFill>
                  <a:srgbClr val="F59E0B"/>
                </a:solidFill>
                <a:latin typeface="Inter" pitchFamily="34" charset="0"/>
                <a:ea typeface="Inter" pitchFamily="34" charset="-122"/>
                <a:cs typeface="Inter" pitchFamily="34" charset="-120"/>
              </a:rPr>
              <a:t>⚙</a:t>
            </a:r>
            <a:endParaRPr lang="en-US" sz="1700" dirty="0"/>
          </a:p>
        </p:txBody>
      </p:sp>
      <p:sp>
        <p:nvSpPr>
          <p:cNvPr id="24" name="Text 20"/>
          <p:cNvSpPr/>
          <p:nvPr/>
        </p:nvSpPr>
        <p:spPr>
          <a:xfrm>
            <a:off x="6357938" y="1846659"/>
            <a:ext cx="2286000" cy="192881"/>
          </a:xfrm>
          <a:prstGeom prst="rect">
            <a:avLst/>
          </a:prstGeom>
          <a:noFill/>
          <a:ln/>
        </p:spPr>
        <p:txBody>
          <a:bodyPr wrap="square" lIns="0" tIns="0" rIns="0" bIns="0" rtlCol="0" anchor="t">
            <a:spAutoFit/>
          </a:bodyPr>
          <a:lstStyle/>
          <a:p>
            <a:pPr algn="l" indent="0" marL="0">
              <a:buNone/>
            </a:pPr>
            <a:r>
              <a:rPr lang="en-US" sz="1100" b="1" dirty="0">
                <a:solidFill>
                  <a:srgbClr val="F8FAFC"/>
                </a:solidFill>
                <a:latin typeface="Inter Bold" pitchFamily="34" charset="0"/>
                <a:ea typeface="Inter Bold" pitchFamily="34" charset="-122"/>
                <a:cs typeface="Inter Bold" pitchFamily="34" charset="-120"/>
              </a:rPr>
              <a:t>Simulating True Outages</a:t>
            </a:r>
            <a:endParaRPr lang="en-US" sz="1100" dirty="0"/>
          </a:p>
        </p:txBody>
      </p:sp>
      <p:sp>
        <p:nvSpPr>
          <p:cNvPr id="25" name="Text 21"/>
          <p:cNvSpPr/>
          <p:nvPr/>
        </p:nvSpPr>
        <p:spPr>
          <a:xfrm>
            <a:off x="6357938" y="2153841"/>
            <a:ext cx="2286000" cy="1670298"/>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94A3B8"/>
                </a:solidFill>
                <a:latin typeface="Inter" pitchFamily="34" charset="0"/>
                <a:ea typeface="Inter" pitchFamily="34" charset="-122"/>
                <a:cs typeface="Inter" pitchFamily="34" charset="-120"/>
              </a:rPr>
              <a:t>Standard pod deletions reset restart counters, masking the true nature of runtime crashes.</a:t>
            </a:r>
            <a:endParaRPr lang="en-US" sz="850" dirty="0"/>
          </a:p>
        </p:txBody>
      </p:sp>
      <p:sp>
        <p:nvSpPr>
          <p:cNvPr id="26" name="Shape 22"/>
          <p:cNvSpPr/>
          <p:nvPr/>
        </p:nvSpPr>
        <p:spPr>
          <a:xfrm>
            <a:off x="6357938" y="3967014"/>
            <a:ext cx="2286000" cy="676424"/>
          </a:xfrm>
          <a:prstGeom prst="rect">
            <a:avLst/>
          </a:prstGeom>
          <a:solidFill>
            <a:srgbClr val="0F172A"/>
          </a:solidFill>
          <a:ln w="9144">
            <a:solidFill>
              <a:srgbClr val="06B6D4"/>
            </a:solidFill>
            <a:prstDash val="solid"/>
          </a:ln>
        </p:spPr>
      </p:sp>
      <p:sp>
        <p:nvSpPr>
          <p:cNvPr id="27" name="Text 23"/>
          <p:cNvSpPr/>
          <p:nvPr/>
        </p:nvSpPr>
        <p:spPr>
          <a:xfrm>
            <a:off x="6465094" y="4088457"/>
            <a:ext cx="2071688" cy="110728"/>
          </a:xfrm>
          <a:prstGeom prst="rect">
            <a:avLst/>
          </a:prstGeom>
          <a:noFill/>
          <a:ln/>
        </p:spPr>
        <p:txBody>
          <a:bodyPr wrap="square" lIns="0" tIns="0" rIns="0" bIns="0" rtlCol="0" anchor="t">
            <a:spAutoFit/>
          </a:bodyPr>
          <a:lstStyle/>
          <a:p>
            <a:pPr algn="l" indent="0" marL="0">
              <a:buNone/>
            </a:pPr>
            <a:r>
              <a:rPr lang="en-US" sz="600" dirty="0">
                <a:solidFill>
                  <a:srgbClr val="06B6D4"/>
                </a:solidFill>
                <a:latin typeface="JetBrains Mono" pitchFamily="34" charset="0"/>
                <a:ea typeface="JetBrains Mono" pitchFamily="34" charset="-122"/>
                <a:cs typeface="JetBrains Mono" pitchFamily="34" charset="-120"/>
              </a:rPr>
              <a:t>LEARNING</a:t>
            </a:r>
            <a:endParaRPr lang="en-US" sz="600" dirty="0"/>
          </a:p>
        </p:txBody>
      </p:sp>
      <p:sp>
        <p:nvSpPr>
          <p:cNvPr id="28" name="Text 24"/>
          <p:cNvSpPr/>
          <p:nvPr/>
        </p:nvSpPr>
        <p:spPr>
          <a:xfrm>
            <a:off x="6465094" y="4256336"/>
            <a:ext cx="2071688"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F8FAFC"/>
                </a:solidFill>
                <a:latin typeface="Inter" pitchFamily="34" charset="0"/>
                <a:ea typeface="Inter" pitchFamily="34" charset="-122"/>
                <a:cs typeface="Inter" pitchFamily="34" charset="-120"/>
              </a:rPr>
              <a:t>Use "kill 1" inside containers to simulate crashes that Kube-State-Metrics can track.</a:t>
            </a:r>
            <a:endParaRPr lang="en-US" sz="750" dirty="0"/>
          </a:p>
        </p:txBody>
      </p:sp>
      <p:sp>
        <p:nvSpPr>
          <p:cNvPr id="29" name="Shape 25"/>
          <p:cNvSpPr/>
          <p:nvPr/>
        </p:nvSpPr>
        <p:spPr>
          <a:xfrm>
            <a:off x="0" y="4857750"/>
            <a:ext cx="9144000" cy="285750"/>
          </a:xfrm>
          <a:prstGeom prst="rect">
            <a:avLst/>
          </a:prstGeom>
          <a:solidFill>
            <a:srgbClr val="000000">
              <a:alpha val="0"/>
            </a:srgbClr>
          </a:solidFill>
          <a:ln/>
        </p:spPr>
      </p:sp>
      <p:sp>
        <p:nvSpPr>
          <p:cNvPr id="30" name="Shape 26"/>
          <p:cNvSpPr/>
          <p:nvPr/>
        </p:nvSpPr>
        <p:spPr>
          <a:xfrm>
            <a:off x="0" y="4857750"/>
            <a:ext cx="9144000" cy="7144"/>
          </a:xfrm>
          <a:prstGeom prst="rect">
            <a:avLst/>
          </a:prstGeom>
          <a:solidFill>
            <a:srgbClr val="334155"/>
          </a:solidFill>
          <a:ln/>
        </p:spPr>
      </p:sp>
      <p:sp>
        <p:nvSpPr>
          <p:cNvPr id="31" name="Text 27"/>
          <p:cNvSpPr/>
          <p:nvPr/>
        </p:nvSpPr>
        <p:spPr>
          <a:xfrm>
            <a:off x="285750" y="4934545"/>
            <a:ext cx="1639491" cy="132159"/>
          </a:xfrm>
          <a:prstGeom prst="rect">
            <a:avLst/>
          </a:prstGeom>
          <a:noFill/>
          <a:ln/>
        </p:spPr>
        <p:txBody>
          <a:bodyPr wrap="square" lIns="0" tIns="0" rIns="0" bIns="0" rtlCol="0" anchor="t">
            <a:spAutoFit/>
          </a:bodyPr>
          <a:lstStyle/>
          <a:p>
            <a:pPr algn="l" indent="0" marL="0">
              <a:buNone/>
            </a:pPr>
            <a:r>
              <a:rPr lang="en-US" sz="750" dirty="0">
                <a:solidFill>
                  <a:srgbClr val="94A3B8"/>
                </a:solidFill>
                <a:latin typeface="JetBrains Mono" pitchFamily="34" charset="0"/>
                <a:ea typeface="JetBrains Mono" pitchFamily="34" charset="-122"/>
                <a:cs typeface="JetBrains Mono" pitchFamily="34" charset="-120"/>
              </a:rPr>
              <a:t>K8S-AUTO-HEAL // EVALUATION</a:t>
            </a:r>
            <a:endParaRPr lang="en-US" sz="750" dirty="0"/>
          </a:p>
        </p:txBody>
      </p:sp>
      <p:sp>
        <p:nvSpPr>
          <p:cNvPr id="32" name="Text 28"/>
          <p:cNvSpPr/>
          <p:nvPr/>
        </p:nvSpPr>
        <p:spPr>
          <a:xfrm>
            <a:off x="8736806" y="4934545"/>
            <a:ext cx="121444" cy="132159"/>
          </a:xfrm>
          <a:prstGeom prst="rect">
            <a:avLst/>
          </a:prstGeom>
          <a:noFill/>
          <a:ln/>
        </p:spPr>
        <p:txBody>
          <a:bodyPr wrap="none" lIns="0" tIns="0" rIns="0" bIns="0" rtlCol="0" anchor="t">
            <a:spAutoFit/>
          </a:bodyPr>
          <a:lstStyle/>
          <a:p>
            <a:pPr algn="l" indent="0" marL="0">
              <a:buNone/>
            </a:pPr>
            <a:r>
              <a:rPr lang="en-US" sz="750" dirty="0">
                <a:solidFill>
                  <a:srgbClr val="94A3B8"/>
                </a:solidFill>
                <a:latin typeface="JetBrains Mono" pitchFamily="34" charset="0"/>
                <a:ea typeface="JetBrains Mono" pitchFamily="34" charset="-122"/>
                <a:cs typeface="JetBrains Mono" pitchFamily="34" charset="-120"/>
              </a:rPr>
              <a:t>05</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2026-09-11T09:04:11Z</dcterms:created>
  <dcterms:modified xsi:type="dcterms:W3CDTF">2026-09-11T09:04:11Z</dcterms:modified>
</cp:coreProperties>
</file>